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Halant" charset="1" panose="00000500000000000000"/>
      <p:regular r:id="rId36"/>
    </p:embeddedFont>
    <p:embeddedFont>
      <p:font typeface="Atkinson Hyperlegible" charset="1" panose="00000000000000000000"/>
      <p:regular r:id="rId37"/>
    </p:embeddedFont>
    <p:embeddedFont>
      <p:font typeface="Halant Semi-Bold" charset="1" panose="00000700000000000000"/>
      <p:regular r:id="rId38"/>
    </p:embeddedFont>
    <p:embeddedFont>
      <p:font typeface="Halant Bold" charset="1" panose="00000800000000000000"/>
      <p:regular r:id="rId39"/>
    </p:embeddedFont>
    <p:embeddedFont>
      <p:font typeface="Halant Medium" charset="1" panose="00000600000000000000"/>
      <p:regular r:id="rId40"/>
    </p:embeddedFont>
    <p:embeddedFont>
      <p:font typeface="Open Sans 1 Bold" charset="1" panose="020B0806030504020204"/>
      <p:regular r:id="rId41"/>
    </p:embeddedFont>
    <p:embeddedFont>
      <p:font typeface="Open Sans 2" charset="1" panose="00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15.jpeg" Type="http://schemas.openxmlformats.org/officeDocument/2006/relationships/image"/><Relationship Id="rId5" Target="../media/VAGm-OTRkp4.mp4" Type="http://schemas.openxmlformats.org/officeDocument/2006/relationships/video"/><Relationship Id="rId6" Target="../media/VAGm-OTRkp4.mp4" Type="http://schemas.microsoft.com/office/2007/relationships/media"/><Relationship Id="rId7" Target="../media/image16.jpeg" Type="http://schemas.openxmlformats.org/officeDocument/2006/relationships/image"/><Relationship Id="rId8" Target="../media/VAGm-M75vyI.mp4" Type="http://schemas.openxmlformats.org/officeDocument/2006/relationships/video"/><Relationship Id="rId9" Target="../media/VAGm-M75vyI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22.pn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jpeg" Type="http://schemas.openxmlformats.org/officeDocument/2006/relationships/image"/><Relationship Id="rId7" Target="../media/VAGnQmemstU.mp4" Type="http://schemas.openxmlformats.org/officeDocument/2006/relationships/video"/><Relationship Id="rId8" Target="../media/VAGnQmemstU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3.jpeg" Type="http://schemas.openxmlformats.org/officeDocument/2006/relationships/image"/><Relationship Id="rId6" Target="../media/VAGm-kdt4qQ.mp4" Type="http://schemas.openxmlformats.org/officeDocument/2006/relationships/video"/><Relationship Id="rId7" Target="../media/VAGm-kdt4qQ.mp4" Type="http://schemas.microsoft.com/office/2007/relationships/media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34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sv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png" Type="http://schemas.openxmlformats.org/officeDocument/2006/relationships/image"/><Relationship Id="rId15" Target="../media/image63.gif" Type="http://schemas.openxmlformats.org/officeDocument/2006/relationships/image"/><Relationship Id="rId16" Target="../media/image64.png" Type="http://schemas.openxmlformats.org/officeDocument/2006/relationships/image"/><Relationship Id="rId17" Target="../media/image65.png" Type="http://schemas.openxmlformats.org/officeDocument/2006/relationships/image"/><Relationship Id="rId18" Target="../media/image66.png" Type="http://schemas.openxmlformats.org/officeDocument/2006/relationships/image"/><Relationship Id="rId19" Target="../media/image67.png" Type="http://schemas.openxmlformats.org/officeDocument/2006/relationships/image"/><Relationship Id="rId2" Target="../media/image1.png" Type="http://schemas.openxmlformats.org/officeDocument/2006/relationships/image"/><Relationship Id="rId20" Target="../media/image68.png" Type="http://schemas.openxmlformats.org/officeDocument/2006/relationships/image"/><Relationship Id="rId21" Target="../media/image69.jpeg" Type="http://schemas.openxmlformats.org/officeDocument/2006/relationships/image"/><Relationship Id="rId22" Target="../media/VAGnPmZD5DM.mp4" Type="http://schemas.openxmlformats.org/officeDocument/2006/relationships/video"/><Relationship Id="rId23" Target="../media/VAGnPmZD5DM.mp4" Type="http://schemas.microsoft.com/office/2007/relationships/media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55.pn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6.png" Type="http://schemas.openxmlformats.org/officeDocument/2006/relationships/image"/><Relationship Id="rId9" Target="../media/image5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70.png" Type="http://schemas.openxmlformats.org/officeDocument/2006/relationships/image"/><Relationship Id="rId6" Target="../media/image71.jpe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media/image49.png" Type="http://schemas.openxmlformats.org/officeDocument/2006/relationships/image"/><Relationship Id="rId14" Target="../media/image50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72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73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54.pn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79.png" Type="http://schemas.openxmlformats.org/officeDocument/2006/relationships/image"/><Relationship Id="rId8" Target="../media/image82.gif" Type="http://schemas.openxmlformats.org/officeDocument/2006/relationships/image"/><Relationship Id="rId9" Target="../media/image8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84.png" Type="http://schemas.openxmlformats.org/officeDocument/2006/relationships/image"/><Relationship Id="rId6" Target="../media/image85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svg" Type="http://schemas.openxmlformats.org/officeDocument/2006/relationships/image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91.pn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94.png" Type="http://schemas.openxmlformats.org/officeDocument/2006/relationships/image"/><Relationship Id="rId6" Target="../media/image9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96.png" Type="http://schemas.openxmlformats.org/officeDocument/2006/relationships/image"/><Relationship Id="rId6" Target="../media/image97.png" Type="http://schemas.openxmlformats.org/officeDocument/2006/relationships/image"/><Relationship Id="rId7" Target="../media/image9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99.png" Type="http://schemas.openxmlformats.org/officeDocument/2006/relationships/image"/><Relationship Id="rId6" Target="../media/image10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101.png" Type="http://schemas.openxmlformats.org/officeDocument/2006/relationships/image"/><Relationship Id="rId6" Target="../media/image10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105.jpeg" Type="http://schemas.openxmlformats.org/officeDocument/2006/relationships/image"/><Relationship Id="rId5" Target="../media/VAGnCCpTwOk.mp4" Type="http://schemas.openxmlformats.org/officeDocument/2006/relationships/video"/><Relationship Id="rId6" Target="../media/VAGnCCpTwOk.mp4" Type="http://schemas.microsoft.com/office/2007/relationships/media"/><Relationship Id="rId7" Target="../media/image89.png" Type="http://schemas.openxmlformats.org/officeDocument/2006/relationships/image"/><Relationship Id="rId8" Target="../media/image90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Grizzloo" TargetMode="External" Type="http://schemas.openxmlformats.org/officeDocument/2006/relationships/hyperlink"/><Relationship Id="rId11" Target="../media/image111.png" Type="http://schemas.openxmlformats.org/officeDocument/2006/relationships/image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Relationship Id="rId7" Target="../media/image108.png" Type="http://schemas.openxmlformats.org/officeDocument/2006/relationships/image"/><Relationship Id="rId8" Target="../media/image109.png" Type="http://schemas.openxmlformats.org/officeDocument/2006/relationships/image"/><Relationship Id="rId9" Target="../media/image1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9796" y="3265396"/>
            <a:ext cx="13657374" cy="4506952"/>
            <a:chOff x="0" y="0"/>
            <a:chExt cx="18209832" cy="600927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452547"/>
              <a:ext cx="12097533" cy="2556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39"/>
                </a:lnSpc>
                <a:spcBef>
                  <a:spcPct val="0"/>
                </a:spcBef>
              </a:pPr>
              <a:r>
                <a:rPr lang="en-US" sz="5599">
                  <a:solidFill>
                    <a:srgbClr val="731F7D"/>
                  </a:solidFill>
                  <a:latin typeface="Halant"/>
                  <a:ea typeface="Halant"/>
                  <a:cs typeface="Halant"/>
                  <a:sym typeface="Halant"/>
                </a:rPr>
                <a:t>CTF - Reverse Engineering - CyberChallenge.IT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7982"/>
              <a:ext cx="18209832" cy="2812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31"/>
                </a:lnSpc>
              </a:pPr>
              <a:r>
                <a:rPr lang="en-US" sz="14009">
                  <a:solidFill>
                    <a:srgbClr val="000000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m0rph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624184">
            <a:off x="8605363" y="-1497007"/>
            <a:ext cx="9054625" cy="8058616"/>
          </a:xfrm>
          <a:custGeom>
            <a:avLst/>
            <a:gdLst/>
            <a:ahLst/>
            <a:cxnLst/>
            <a:rect r="r" b="b" t="t" l="l"/>
            <a:pathLst>
              <a:path h="8058616" w="9054625">
                <a:moveTo>
                  <a:pt x="0" y="0"/>
                </a:moveTo>
                <a:lnTo>
                  <a:pt x="9054625" y="0"/>
                </a:lnTo>
                <a:lnTo>
                  <a:pt x="9054625" y="8058617"/>
                </a:lnTo>
                <a:lnTo>
                  <a:pt x="0" y="8058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67437">
            <a:off x="15102656" y="7369811"/>
            <a:ext cx="3789612" cy="3623816"/>
          </a:xfrm>
          <a:custGeom>
            <a:avLst/>
            <a:gdLst/>
            <a:ahLst/>
            <a:cxnLst/>
            <a:rect r="r" b="b" t="t" l="l"/>
            <a:pathLst>
              <a:path h="3623816" w="3789612">
                <a:moveTo>
                  <a:pt x="0" y="0"/>
                </a:moveTo>
                <a:lnTo>
                  <a:pt x="3789612" y="0"/>
                </a:lnTo>
                <a:lnTo>
                  <a:pt x="3789612" y="3623816"/>
                </a:lnTo>
                <a:lnTo>
                  <a:pt x="0" y="3623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5970" y="687835"/>
            <a:ext cx="1990769" cy="1990769"/>
          </a:xfrm>
          <a:custGeom>
            <a:avLst/>
            <a:gdLst/>
            <a:ahLst/>
            <a:cxnLst/>
            <a:rect r="r" b="b" t="t" l="l"/>
            <a:pathLst>
              <a:path h="1990769" w="1990769">
                <a:moveTo>
                  <a:pt x="0" y="0"/>
                </a:moveTo>
                <a:lnTo>
                  <a:pt x="1990769" y="0"/>
                </a:lnTo>
                <a:lnTo>
                  <a:pt x="1990769" y="1990769"/>
                </a:lnTo>
                <a:lnTo>
                  <a:pt x="0" y="1990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87669" y="1077399"/>
            <a:ext cx="5600019" cy="1211641"/>
          </a:xfrm>
          <a:custGeom>
            <a:avLst/>
            <a:gdLst/>
            <a:ahLst/>
            <a:cxnLst/>
            <a:rect r="r" b="b" t="t" l="l"/>
            <a:pathLst>
              <a:path h="1211641" w="5600019">
                <a:moveTo>
                  <a:pt x="0" y="0"/>
                </a:moveTo>
                <a:lnTo>
                  <a:pt x="5600020" y="0"/>
                </a:lnTo>
                <a:lnTo>
                  <a:pt x="5600020" y="1211641"/>
                </a:lnTo>
                <a:lnTo>
                  <a:pt x="0" y="12116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9796" y="8368665"/>
            <a:ext cx="4753885" cy="1635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8"/>
              </a:lnSpc>
            </a:pPr>
            <a:r>
              <a:rPr lang="en-US" sz="2600" b="true">
                <a:solidFill>
                  <a:srgbClr val="000000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Cured by:</a:t>
            </a:r>
          </a:p>
          <a:p>
            <a:pPr algn="just">
              <a:lnSpc>
                <a:spcPts val="3304"/>
              </a:lnSpc>
            </a:pPr>
            <a:r>
              <a:rPr lang="en-US" sz="2800" b="true">
                <a:solidFill>
                  <a:srgbClr val="000000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Umberto della Monica</a:t>
            </a:r>
          </a:p>
          <a:p>
            <a:pPr algn="just">
              <a:lnSpc>
                <a:spcPts val="3304"/>
              </a:lnSpc>
            </a:pPr>
            <a:r>
              <a:rPr lang="en-US" sz="2800" b="true">
                <a:solidFill>
                  <a:srgbClr val="000000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Gabriele Vittorio Coralluzzo</a:t>
            </a:r>
          </a:p>
          <a:p>
            <a:pPr algn="just">
              <a:lnSpc>
                <a:spcPts val="3304"/>
              </a:lnSpc>
              <a:spcBef>
                <a:spcPct val="0"/>
              </a:spcBef>
            </a:pPr>
            <a:r>
              <a:rPr lang="en-US" b="true" sz="2800">
                <a:solidFill>
                  <a:srgbClr val="000000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Piero Agosto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9106675">
            <a:off x="8496334" y="8191979"/>
            <a:ext cx="1811240" cy="1716150"/>
          </a:xfrm>
          <a:custGeom>
            <a:avLst/>
            <a:gdLst/>
            <a:ahLst/>
            <a:cxnLst/>
            <a:rect r="r" b="b" t="t" l="l"/>
            <a:pathLst>
              <a:path h="1716150" w="1811240">
                <a:moveTo>
                  <a:pt x="0" y="0"/>
                </a:moveTo>
                <a:lnTo>
                  <a:pt x="1811240" y="0"/>
                </a:lnTo>
                <a:lnTo>
                  <a:pt x="1811240" y="1716150"/>
                </a:lnTo>
                <a:lnTo>
                  <a:pt x="0" y="1716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99663">
            <a:off x="4111359" y="-3364814"/>
            <a:ext cx="9366851" cy="8957051"/>
          </a:xfrm>
          <a:custGeom>
            <a:avLst/>
            <a:gdLst/>
            <a:ahLst/>
            <a:cxnLst/>
            <a:rect r="r" b="b" t="t" l="l"/>
            <a:pathLst>
              <a:path h="8957051" w="9366851">
                <a:moveTo>
                  <a:pt x="0" y="0"/>
                </a:moveTo>
                <a:lnTo>
                  <a:pt x="9366851" y="0"/>
                </a:lnTo>
                <a:lnTo>
                  <a:pt x="9366851" y="8957051"/>
                </a:lnTo>
                <a:lnTo>
                  <a:pt x="0" y="895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15964">
            <a:off x="15143341" y="1974628"/>
            <a:ext cx="2207918" cy="2092002"/>
          </a:xfrm>
          <a:custGeom>
            <a:avLst/>
            <a:gdLst/>
            <a:ahLst/>
            <a:cxnLst/>
            <a:rect r="r" b="b" t="t" l="l"/>
            <a:pathLst>
              <a:path h="2092002" w="2207918">
                <a:moveTo>
                  <a:pt x="0" y="0"/>
                </a:moveTo>
                <a:lnTo>
                  <a:pt x="2207918" y="0"/>
                </a:lnTo>
                <a:lnTo>
                  <a:pt x="2207918" y="2092003"/>
                </a:lnTo>
                <a:lnTo>
                  <a:pt x="0" y="2092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94911">
            <a:off x="16125490" y="7311630"/>
            <a:ext cx="5163362" cy="4892285"/>
          </a:xfrm>
          <a:custGeom>
            <a:avLst/>
            <a:gdLst/>
            <a:ahLst/>
            <a:cxnLst/>
            <a:rect r="r" b="b" t="t" l="l"/>
            <a:pathLst>
              <a:path h="4892285" w="5163362">
                <a:moveTo>
                  <a:pt x="0" y="0"/>
                </a:moveTo>
                <a:lnTo>
                  <a:pt x="5163361" y="0"/>
                </a:lnTo>
                <a:lnTo>
                  <a:pt x="5163361" y="4892285"/>
                </a:lnTo>
                <a:lnTo>
                  <a:pt x="0" y="4892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8942" y="3651351"/>
            <a:ext cx="10437059" cy="5393212"/>
            <a:chOff x="0" y="0"/>
            <a:chExt cx="13916079" cy="719094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978143"/>
              <a:ext cx="13916079" cy="2212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6"/>
                </a:lnSpc>
              </a:pPr>
              <a:r>
                <a:rPr lang="en-US" sz="37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Indovinare la </a:t>
              </a:r>
              <a:r>
                <a:rPr lang="en-US" sz="3700" b="true">
                  <a:solidFill>
                    <a:srgbClr val="4D1354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FLAG</a:t>
              </a:r>
              <a:r>
                <a:rPr lang="en-US" sz="37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 che deve essere </a:t>
              </a:r>
            </a:p>
            <a:p>
              <a:pPr algn="l">
                <a:lnSpc>
                  <a:spcPts val="4366"/>
                </a:lnSpc>
              </a:pPr>
              <a:r>
                <a:rPr lang="en-US" sz="37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passata come input al file binario per risolvere la sfida!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72600"/>
              <a:ext cx="9894356" cy="36660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200"/>
                </a:lnSpc>
                <a:spcBef>
                  <a:spcPct val="0"/>
                </a:spcBef>
              </a:pPr>
              <a:r>
                <a:rPr lang="en-US" b="true" sz="8000">
                  <a:solidFill>
                    <a:srgbClr val="731F7D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In cosa consiste la sfida?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391695" y="4719140"/>
            <a:ext cx="2149255" cy="2204553"/>
          </a:xfrm>
          <a:custGeom>
            <a:avLst/>
            <a:gdLst/>
            <a:ahLst/>
            <a:cxnLst/>
            <a:rect r="r" b="b" t="t" l="l"/>
            <a:pathLst>
              <a:path h="2204553" w="2149255">
                <a:moveTo>
                  <a:pt x="0" y="0"/>
                </a:moveTo>
                <a:lnTo>
                  <a:pt x="2149256" y="0"/>
                </a:lnTo>
                <a:lnTo>
                  <a:pt x="2149256" y="2204554"/>
                </a:lnTo>
                <a:lnTo>
                  <a:pt x="0" y="2204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30152" y="5515741"/>
            <a:ext cx="2877819" cy="3032185"/>
          </a:xfrm>
          <a:custGeom>
            <a:avLst/>
            <a:gdLst/>
            <a:ahLst/>
            <a:cxnLst/>
            <a:rect r="r" b="b" t="t" l="l"/>
            <a:pathLst>
              <a:path h="3032185" w="2877819">
                <a:moveTo>
                  <a:pt x="0" y="0"/>
                </a:moveTo>
                <a:lnTo>
                  <a:pt x="2877820" y="0"/>
                </a:lnTo>
                <a:lnTo>
                  <a:pt x="2877820" y="3032185"/>
                </a:lnTo>
                <a:lnTo>
                  <a:pt x="0" y="3032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94169">
            <a:off x="-2581602" y="5702715"/>
            <a:ext cx="6176663" cy="5906434"/>
          </a:xfrm>
          <a:custGeom>
            <a:avLst/>
            <a:gdLst/>
            <a:ahLst/>
            <a:cxnLst/>
            <a:rect r="r" b="b" t="t" l="l"/>
            <a:pathLst>
              <a:path h="5906434" w="6176663">
                <a:moveTo>
                  <a:pt x="0" y="0"/>
                </a:moveTo>
                <a:lnTo>
                  <a:pt x="6176663" y="0"/>
                </a:lnTo>
                <a:lnTo>
                  <a:pt x="6176663" y="5906434"/>
                </a:lnTo>
                <a:lnTo>
                  <a:pt x="0" y="5906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40951">
            <a:off x="-899365" y="-348566"/>
            <a:ext cx="2207918" cy="2092002"/>
          </a:xfrm>
          <a:custGeom>
            <a:avLst/>
            <a:gdLst/>
            <a:ahLst/>
            <a:cxnLst/>
            <a:rect r="r" b="b" t="t" l="l"/>
            <a:pathLst>
              <a:path h="2092002" w="2207918">
                <a:moveTo>
                  <a:pt x="0" y="0"/>
                </a:moveTo>
                <a:lnTo>
                  <a:pt x="2207918" y="0"/>
                </a:lnTo>
                <a:lnTo>
                  <a:pt x="2207918" y="2092003"/>
                </a:lnTo>
                <a:lnTo>
                  <a:pt x="0" y="2092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33094" y="3245836"/>
            <a:ext cx="1998395" cy="1998395"/>
          </a:xfrm>
          <a:custGeom>
            <a:avLst/>
            <a:gdLst/>
            <a:ahLst/>
            <a:cxnLst/>
            <a:rect r="r" b="b" t="t" l="l"/>
            <a:pathLst>
              <a:path h="1998395" w="1998395">
                <a:moveTo>
                  <a:pt x="0" y="0"/>
                </a:moveTo>
                <a:lnTo>
                  <a:pt x="1998395" y="0"/>
                </a:lnTo>
                <a:lnTo>
                  <a:pt x="1998395" y="1998395"/>
                </a:lnTo>
                <a:lnTo>
                  <a:pt x="0" y="1998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05660" y="4063576"/>
            <a:ext cx="2143047" cy="2143047"/>
          </a:xfrm>
          <a:custGeom>
            <a:avLst/>
            <a:gdLst/>
            <a:ahLst/>
            <a:cxnLst/>
            <a:rect r="r" b="b" t="t" l="l"/>
            <a:pathLst>
              <a:path h="2143047" w="2143047">
                <a:moveTo>
                  <a:pt x="0" y="0"/>
                </a:moveTo>
                <a:lnTo>
                  <a:pt x="2143047" y="0"/>
                </a:lnTo>
                <a:lnTo>
                  <a:pt x="2143047" y="2143048"/>
                </a:lnTo>
                <a:lnTo>
                  <a:pt x="0" y="2143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06100" y="2668958"/>
            <a:ext cx="3705950" cy="2466142"/>
          </a:xfrm>
          <a:custGeom>
            <a:avLst/>
            <a:gdLst/>
            <a:ahLst/>
            <a:cxnLst/>
            <a:rect r="r" b="b" t="t" l="l"/>
            <a:pathLst>
              <a:path h="2466142" w="3705950">
                <a:moveTo>
                  <a:pt x="0" y="0"/>
                </a:moveTo>
                <a:lnTo>
                  <a:pt x="3705950" y="0"/>
                </a:lnTo>
                <a:lnTo>
                  <a:pt x="3705950" y="2466142"/>
                </a:lnTo>
                <a:lnTo>
                  <a:pt x="0" y="2466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38505" y="6587436"/>
            <a:ext cx="2368433" cy="2396758"/>
          </a:xfrm>
          <a:custGeom>
            <a:avLst/>
            <a:gdLst/>
            <a:ahLst/>
            <a:cxnLst/>
            <a:rect r="r" b="b" t="t" l="l"/>
            <a:pathLst>
              <a:path h="2396758" w="2368433">
                <a:moveTo>
                  <a:pt x="0" y="0"/>
                </a:moveTo>
                <a:lnTo>
                  <a:pt x="2368433" y="0"/>
                </a:lnTo>
                <a:lnTo>
                  <a:pt x="2368433" y="2396757"/>
                </a:lnTo>
                <a:lnTo>
                  <a:pt x="0" y="23967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19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98912" y="510131"/>
            <a:ext cx="9774639" cy="105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5"/>
              </a:lnSpc>
            </a:pPr>
            <a:r>
              <a:rPr lang="en-US" sz="7072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Strumenti utilizzati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33094" y="2243508"/>
            <a:ext cx="6010906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Cutter - Rizin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29038" y="2243508"/>
            <a:ext cx="7089027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Radare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8505" y="5792561"/>
            <a:ext cx="6464427" cy="80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00"/>
              </a:lnSpc>
              <a:spcBef>
                <a:spcPct val="0"/>
              </a:spcBef>
            </a:pPr>
            <a:r>
              <a:rPr lang="en-US" b="true" sz="5000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Python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4657620">
            <a:off x="15160976" y="6914194"/>
            <a:ext cx="6176663" cy="5906434"/>
          </a:xfrm>
          <a:custGeom>
            <a:avLst/>
            <a:gdLst/>
            <a:ahLst/>
            <a:cxnLst/>
            <a:rect r="r" b="b" t="t" l="l"/>
            <a:pathLst>
              <a:path h="5906434" w="6176663">
                <a:moveTo>
                  <a:pt x="0" y="0"/>
                </a:moveTo>
                <a:lnTo>
                  <a:pt x="6176663" y="0"/>
                </a:lnTo>
                <a:lnTo>
                  <a:pt x="6176663" y="5906433"/>
                </a:lnTo>
                <a:lnTo>
                  <a:pt x="0" y="59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4633">
            <a:off x="-1558896" y="7706234"/>
            <a:ext cx="4315504" cy="4088940"/>
          </a:xfrm>
          <a:custGeom>
            <a:avLst/>
            <a:gdLst/>
            <a:ahLst/>
            <a:cxnLst/>
            <a:rect r="r" b="b" t="t" l="l"/>
            <a:pathLst>
              <a:path h="4088940" w="4315504">
                <a:moveTo>
                  <a:pt x="0" y="0"/>
                </a:moveTo>
                <a:lnTo>
                  <a:pt x="4315504" y="0"/>
                </a:lnTo>
                <a:lnTo>
                  <a:pt x="4315504" y="4088940"/>
                </a:lnTo>
                <a:lnTo>
                  <a:pt x="0" y="4088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9718" y="442277"/>
            <a:ext cx="12908564" cy="119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Fasi preliminari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313119">
            <a:off x="14868662" y="-1102664"/>
            <a:ext cx="5214256" cy="4986132"/>
          </a:xfrm>
          <a:custGeom>
            <a:avLst/>
            <a:gdLst/>
            <a:ahLst/>
            <a:cxnLst/>
            <a:rect r="r" b="b" t="t" l="l"/>
            <a:pathLst>
              <a:path h="4986132" w="5214256">
                <a:moveTo>
                  <a:pt x="0" y="0"/>
                </a:moveTo>
                <a:lnTo>
                  <a:pt x="5214255" y="0"/>
                </a:lnTo>
                <a:lnTo>
                  <a:pt x="5214255" y="4986132"/>
                </a:lnTo>
                <a:lnTo>
                  <a:pt x="0" y="4986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336" t="0" r="336" b="0"/>
          <a:stretch>
            <a:fillRect/>
          </a:stretch>
        </p:blipFill>
        <p:spPr>
          <a:xfrm flipH="false" flipV="false" rot="0">
            <a:off x="3342842" y="5190032"/>
            <a:ext cx="4383213" cy="3550403"/>
          </a:xfrm>
          <a:prstGeom prst="rect">
            <a:avLst/>
          </a:prstGeom>
        </p:spPr>
      </p:pic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10161" r="0" b="9948"/>
          <a:stretch>
            <a:fillRect/>
          </a:stretch>
        </p:blipFill>
        <p:spPr>
          <a:xfrm flipH="false" flipV="false" rot="0">
            <a:off x="10208613" y="5190032"/>
            <a:ext cx="4444095" cy="3550403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3625016" y="2793205"/>
            <a:ext cx="3818865" cy="2208871"/>
            <a:chOff x="0" y="0"/>
            <a:chExt cx="5091820" cy="294516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5091820" cy="2147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00"/>
                </a:lnSpc>
              </a:pPr>
              <a:r>
                <a:rPr lang="en-US" sz="5000" b="true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Analisi Statica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508093"/>
              <a:ext cx="5091820" cy="462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8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08613" y="2793205"/>
            <a:ext cx="4380386" cy="2396827"/>
            <a:chOff x="0" y="0"/>
            <a:chExt cx="5840515" cy="319577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5840515" cy="2147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Analisi dinamica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527143"/>
              <a:ext cx="5840515" cy="3799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86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4093" y="-2098677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2129943" y="8788169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4749549" y="369059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48509" y="847618"/>
            <a:ext cx="4117403" cy="2303359"/>
          </a:xfrm>
          <a:custGeom>
            <a:avLst/>
            <a:gdLst/>
            <a:ahLst/>
            <a:cxnLst/>
            <a:rect r="r" b="b" t="t" l="l"/>
            <a:pathLst>
              <a:path h="2303359" w="4117403">
                <a:moveTo>
                  <a:pt x="0" y="0"/>
                </a:moveTo>
                <a:lnTo>
                  <a:pt x="4117403" y="0"/>
                </a:lnTo>
                <a:lnTo>
                  <a:pt x="4117403" y="2303359"/>
                </a:lnTo>
                <a:lnTo>
                  <a:pt x="0" y="23033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4658" y="2544011"/>
            <a:ext cx="8115300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4479"/>
              </a:lnSpc>
              <a:buFont typeface="Arial"/>
              <a:buChar char="•"/>
            </a:pPr>
            <a:r>
              <a:rPr lang="en-US" sz="3199" spc="-3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Analisi del codice binario mediante : 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 spc="-31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strings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 spc="-31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readelf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 spc="-31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strace &amp; ltrace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 spc="-31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hexdump</a:t>
            </a:r>
          </a:p>
          <a:p>
            <a:pPr algn="l" marL="1381758" indent="-460586" lvl="2">
              <a:lnSpc>
                <a:spcPts val="4479"/>
              </a:lnSpc>
              <a:buFont typeface="Arial"/>
              <a:buChar char="⚬"/>
            </a:pPr>
            <a:r>
              <a:rPr lang="en-US" b="true" sz="3199" spc="-31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file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708292" y="4030814"/>
            <a:ext cx="2997534" cy="2940223"/>
            <a:chOff x="0" y="0"/>
            <a:chExt cx="3996713" cy="39202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960459" y="1394095"/>
              <a:ext cx="2526202" cy="2526202"/>
            </a:xfrm>
            <a:custGeom>
              <a:avLst/>
              <a:gdLst/>
              <a:ahLst/>
              <a:cxnLst/>
              <a:rect r="r" b="b" t="t" l="l"/>
              <a:pathLst>
                <a:path h="2526202" w="2526202">
                  <a:moveTo>
                    <a:pt x="0" y="0"/>
                  </a:moveTo>
                  <a:lnTo>
                    <a:pt x="2526202" y="0"/>
                  </a:lnTo>
                  <a:lnTo>
                    <a:pt x="2526202" y="2526202"/>
                  </a:lnTo>
                  <a:lnTo>
                    <a:pt x="0" y="2526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3996713" cy="1203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5"/>
                </a:lnSpc>
                <a:spcBef>
                  <a:spcPct val="0"/>
                </a:spcBef>
              </a:pPr>
              <a:r>
                <a:rPr lang="en-US" b="true" sz="2996">
                  <a:solidFill>
                    <a:srgbClr val="000000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Interpretazione dei dati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869343" y="6026429"/>
            <a:ext cx="4479165" cy="3968046"/>
            <a:chOff x="0" y="0"/>
            <a:chExt cx="5972221" cy="52907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76284" y="2178658"/>
              <a:ext cx="4314917" cy="3112070"/>
            </a:xfrm>
            <a:custGeom>
              <a:avLst/>
              <a:gdLst/>
              <a:ahLst/>
              <a:cxnLst/>
              <a:rect r="r" b="b" t="t" l="l"/>
              <a:pathLst>
                <a:path h="3112070" w="4314917">
                  <a:moveTo>
                    <a:pt x="0" y="0"/>
                  </a:moveTo>
                  <a:lnTo>
                    <a:pt x="4314916" y="0"/>
                  </a:lnTo>
                  <a:lnTo>
                    <a:pt x="4314916" y="3112070"/>
                  </a:lnTo>
                  <a:lnTo>
                    <a:pt x="0" y="3112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788" t="0" r="-2788" b="-11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972221" cy="2098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pc="-30">
                  <a:solidFill>
                    <a:srgbClr val="000000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Scrittura di note indicative 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pc="-30">
                  <a:solidFill>
                    <a:srgbClr val="000000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sui risultati ottenuti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4658" y="488843"/>
            <a:ext cx="8453587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Statica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7890" y="1701800"/>
            <a:ext cx="92177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spc="-31" b="true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Quella un po’ più noiosa e laboriosa.. ma perché?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1544" y="7015681"/>
            <a:ext cx="3090764" cy="2528823"/>
            <a:chOff x="0" y="0"/>
            <a:chExt cx="4121019" cy="33717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39431" y="936041"/>
              <a:ext cx="2599097" cy="2435723"/>
            </a:xfrm>
            <a:custGeom>
              <a:avLst/>
              <a:gdLst/>
              <a:ahLst/>
              <a:cxnLst/>
              <a:rect r="r" b="b" t="t" l="l"/>
              <a:pathLst>
                <a:path h="2435723" w="2599097">
                  <a:moveTo>
                    <a:pt x="0" y="0"/>
                  </a:moveTo>
                  <a:lnTo>
                    <a:pt x="2599097" y="0"/>
                  </a:lnTo>
                  <a:lnTo>
                    <a:pt x="2599097" y="2435723"/>
                  </a:lnTo>
                  <a:lnTo>
                    <a:pt x="0" y="2435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353" r="0" b="-33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4121019" cy="1155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22"/>
                </a:lnSpc>
                <a:spcBef>
                  <a:spcPct val="0"/>
                </a:spcBef>
              </a:pPr>
              <a:r>
                <a:rPr lang="en-US" b="true" sz="2516" spc="-25">
                  <a:solidFill>
                    <a:srgbClr val="000000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Cross-Ref dei risultati dei vari tool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4093" y="-2098677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2129943" y="8788169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5287393" y="3626000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39238" y="4557077"/>
            <a:ext cx="9525" cy="11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69818" y="1483995"/>
            <a:ext cx="15017213" cy="902907"/>
          </a:xfrm>
          <a:custGeom>
            <a:avLst/>
            <a:gdLst/>
            <a:ahLst/>
            <a:cxnLst/>
            <a:rect r="r" b="b" t="t" l="l"/>
            <a:pathLst>
              <a:path h="902907" w="15017213">
                <a:moveTo>
                  <a:pt x="0" y="0"/>
                </a:moveTo>
                <a:lnTo>
                  <a:pt x="15017214" y="0"/>
                </a:lnTo>
                <a:lnTo>
                  <a:pt x="15017214" y="902907"/>
                </a:lnTo>
                <a:lnTo>
                  <a:pt x="0" y="902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8124" r="-55958" b="-1571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1134835" y="2050599"/>
            <a:ext cx="1593108" cy="1198151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6347214" y="2169961"/>
            <a:ext cx="659499" cy="1679690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9" id="9"/>
          <p:cNvSpPr txBox="true"/>
          <p:nvPr/>
        </p:nvSpPr>
        <p:spPr>
          <a:xfrm rot="0">
            <a:off x="6405111" y="5353868"/>
            <a:ext cx="8368982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È una libreria dinamica (.so):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Non è eseguibile direttamente.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Può essere caricata da altri programmi a runtime.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1194805" y="2169961"/>
            <a:ext cx="4471871" cy="3413205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316142" y="4500907"/>
            <a:ext cx="5674154" cy="2649723"/>
          </a:xfrm>
          <a:custGeom>
            <a:avLst/>
            <a:gdLst/>
            <a:ahLst/>
            <a:cxnLst/>
            <a:rect r="r" b="b" t="t" l="l"/>
            <a:pathLst>
              <a:path h="2649723" w="5674154">
                <a:moveTo>
                  <a:pt x="0" y="0"/>
                </a:moveTo>
                <a:lnTo>
                  <a:pt x="5674153" y="0"/>
                </a:lnTo>
                <a:lnTo>
                  <a:pt x="5674153" y="2649722"/>
                </a:lnTo>
                <a:lnTo>
                  <a:pt x="0" y="26497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6142" y="7612330"/>
            <a:ext cx="10301922" cy="224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L</a:t>
            </a:r>
            <a:r>
              <a:rPr lang="en-US" sz="3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'</a:t>
            </a:r>
            <a:r>
              <a:rPr lang="en-US" b="true" sz="3000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Endianness</a:t>
            </a:r>
            <a:r>
              <a:rPr lang="en-US" sz="3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: ordine dei byte nei dati multibyte.</a:t>
            </a:r>
          </a:p>
          <a:p>
            <a:pPr algn="l">
              <a:lnSpc>
                <a:spcPts val="3540"/>
              </a:lnSpc>
            </a:pPr>
            <a:r>
              <a:rPr lang="en-US" b="true" sz="3000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Little Endian</a:t>
            </a:r>
            <a:r>
              <a:rPr lang="en-US" sz="3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:</a:t>
            </a:r>
          </a:p>
          <a:p>
            <a:pPr algn="l" marL="1295400" indent="-431800" lvl="2">
              <a:lnSpc>
                <a:spcPts val="354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Il byte meno significativo viene memorizzato per primo.</a:t>
            </a:r>
          </a:p>
          <a:p>
            <a:pPr algn="l" marL="1295400" indent="-431800" lvl="2">
              <a:lnSpc>
                <a:spcPts val="354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Comune su CPU x86_64 (Intel, AMD).</a:t>
            </a:r>
          </a:p>
          <a:p>
            <a:pPr algn="l">
              <a:lnSpc>
                <a:spcPts val="354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16142" y="335280"/>
            <a:ext cx="1169574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Statica - file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2316" y="3191600"/>
            <a:ext cx="4951254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Formato standard per file binari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su sistemi Unix/Linux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72948" y="3351214"/>
            <a:ext cx="3369023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Il file è destinato ad architetture a 64 bit.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8629" y="-28277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5"/>
                </a:lnTo>
                <a:lnTo>
                  <a:pt x="0" y="625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180129" y="8562110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1304" y="3470863"/>
            <a:ext cx="7023892" cy="5074762"/>
          </a:xfrm>
          <a:custGeom>
            <a:avLst/>
            <a:gdLst/>
            <a:ahLst/>
            <a:cxnLst/>
            <a:rect r="r" b="b" t="t" l="l"/>
            <a:pathLst>
              <a:path h="5074762" w="7023892">
                <a:moveTo>
                  <a:pt x="0" y="0"/>
                </a:moveTo>
                <a:lnTo>
                  <a:pt x="7023892" y="0"/>
                </a:lnTo>
                <a:lnTo>
                  <a:pt x="7023892" y="5074762"/>
                </a:lnTo>
                <a:lnTo>
                  <a:pt x="0" y="5074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>
            <a:off x="1764865" y="3646543"/>
            <a:ext cx="660355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10438669" y="5534107"/>
            <a:ext cx="5699919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T</a:t>
            </a: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ipo di file (eseguibile, libreria, ecc.)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6041748" y="4862087"/>
            <a:ext cx="3248979" cy="1338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6972241" y="5338591"/>
            <a:ext cx="3182071" cy="4765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5023393" y="6057982"/>
            <a:ext cx="3578648" cy="10516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5724792" y="7589226"/>
            <a:ext cx="2284866" cy="2586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H="true">
            <a:off x="5185975" y="6885832"/>
            <a:ext cx="666" cy="14765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179346" y="1815807"/>
            <a:ext cx="11394238" cy="620561"/>
          </a:xfrm>
          <a:custGeom>
            <a:avLst/>
            <a:gdLst/>
            <a:ahLst/>
            <a:cxnLst/>
            <a:rect r="r" b="b" t="t" l="l"/>
            <a:pathLst>
              <a:path h="620561" w="11394238">
                <a:moveTo>
                  <a:pt x="0" y="0"/>
                </a:moveTo>
                <a:lnTo>
                  <a:pt x="11394238" y="0"/>
                </a:lnTo>
                <a:lnTo>
                  <a:pt x="11394238" y="620561"/>
                </a:lnTo>
                <a:lnTo>
                  <a:pt x="0" y="6205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931" t="-9878" r="-751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76465" y="7885958"/>
            <a:ext cx="10108411" cy="521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</a:t>
            </a:r>
            <a:r>
              <a:rPr lang="en-US" sz="3099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osizione e dimensione di tabelle interne (segmenti e sezioni)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1304" y="628762"/>
            <a:ext cx="1169574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Statica - readelf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48258" y="3124281"/>
            <a:ext cx="8657259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29" u="sng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</a:t>
            </a:r>
            <a:r>
              <a:rPr lang="en-US" sz="2999" spc="-29" u="sng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ntiene informazioni fondamentali per il caricamento, l’esecuzione del file da parte del sistema operativo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0" y="8824294"/>
            <a:ext cx="15943116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Queste informazioni permettono al loader del sistema operativo di interpretare correttamente la struttura del file.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8177" y="4714956"/>
            <a:ext cx="2920206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A</a:t>
            </a: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rchitettura target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863" y="6828682"/>
            <a:ext cx="5633720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</a:t>
            </a: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ndirizzo di ingresso del programma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7936" y="2826893"/>
            <a:ext cx="2309991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Cosa stampa: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4093" y="-2098677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2129943" y="8788169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 flipV="true">
            <a:off x="798062" y="6782526"/>
            <a:ext cx="2403125" cy="11450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481304" y="628762"/>
            <a:ext cx="1169574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Statica - strings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0165" y="7362825"/>
            <a:ext cx="4762662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Rappresentazione delle sezioni nel binario.</a:t>
            </a: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</a:t>
            </a: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Rivelano la struttura del binario e i dettagli relativi al linking.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6743513" y="4060733"/>
            <a:ext cx="758500" cy="44230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9726320" y="1698795"/>
            <a:ext cx="566787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Bisogna trovare una stringa per risolvere la sfida!</a:t>
            </a:r>
          </a:p>
        </p:txBody>
      </p:sp>
      <p:sp>
        <p:nvSpPr>
          <p:cNvPr name="AutoShape 9" id="9"/>
          <p:cNvSpPr/>
          <p:nvPr/>
        </p:nvSpPr>
        <p:spPr>
          <a:xfrm>
            <a:off x="11940008" y="2756070"/>
            <a:ext cx="1444030" cy="35555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481304" y="1624280"/>
            <a:ext cx="4547564" cy="918001"/>
          </a:xfrm>
          <a:custGeom>
            <a:avLst/>
            <a:gdLst/>
            <a:ahLst/>
            <a:cxnLst/>
            <a:rect r="r" b="b" t="t" l="l"/>
            <a:pathLst>
              <a:path h="918001" w="4547564">
                <a:moveTo>
                  <a:pt x="0" y="0"/>
                </a:moveTo>
                <a:lnTo>
                  <a:pt x="4547564" y="0"/>
                </a:lnTo>
                <a:lnTo>
                  <a:pt x="4547564" y="918000"/>
                </a:lnTo>
                <a:lnTo>
                  <a:pt x="0" y="91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6678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1304" y="3569132"/>
            <a:ext cx="3966364" cy="3148737"/>
          </a:xfrm>
          <a:custGeom>
            <a:avLst/>
            <a:gdLst/>
            <a:ahLst/>
            <a:cxnLst/>
            <a:rect r="r" b="b" t="t" l="l"/>
            <a:pathLst>
              <a:path h="3148737" w="3966364">
                <a:moveTo>
                  <a:pt x="0" y="0"/>
                </a:moveTo>
                <a:lnTo>
                  <a:pt x="3966364" y="0"/>
                </a:lnTo>
                <a:lnTo>
                  <a:pt x="3966364" y="3148736"/>
                </a:lnTo>
                <a:lnTo>
                  <a:pt x="0" y="3148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43513" y="1633111"/>
            <a:ext cx="1916217" cy="5649750"/>
          </a:xfrm>
          <a:custGeom>
            <a:avLst/>
            <a:gdLst/>
            <a:ahLst/>
            <a:cxnLst/>
            <a:rect r="r" b="b" t="t" l="l"/>
            <a:pathLst>
              <a:path h="5649750" w="1916217">
                <a:moveTo>
                  <a:pt x="0" y="0"/>
                </a:moveTo>
                <a:lnTo>
                  <a:pt x="1916217" y="0"/>
                </a:lnTo>
                <a:lnTo>
                  <a:pt x="1916217" y="5649750"/>
                </a:lnTo>
                <a:lnTo>
                  <a:pt x="0" y="5649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47348" y="6466349"/>
            <a:ext cx="8111482" cy="503038"/>
          </a:xfrm>
          <a:custGeom>
            <a:avLst/>
            <a:gdLst/>
            <a:ahLst/>
            <a:cxnLst/>
            <a:rect r="r" b="b" t="t" l="l"/>
            <a:pathLst>
              <a:path h="503038" w="8111482">
                <a:moveTo>
                  <a:pt x="0" y="0"/>
                </a:moveTo>
                <a:lnTo>
                  <a:pt x="8111481" y="0"/>
                </a:lnTo>
                <a:lnTo>
                  <a:pt x="8111481" y="503038"/>
                </a:lnTo>
                <a:lnTo>
                  <a:pt x="0" y="5030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85223" y="7860868"/>
            <a:ext cx="505362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Dipendenza del programma dalla GNU C Library (libc.so.6)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1304" y="2665316"/>
            <a:ext cx="48614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Il comando andrà a stampare: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4093" y="-2098677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148233">
            <a:off x="15794578" y="369059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6430" y="2516989"/>
            <a:ext cx="10362278" cy="792164"/>
          </a:xfrm>
          <a:custGeom>
            <a:avLst/>
            <a:gdLst/>
            <a:ahLst/>
            <a:cxnLst/>
            <a:rect r="r" b="b" t="t" l="l"/>
            <a:pathLst>
              <a:path h="792164" w="10362278">
                <a:moveTo>
                  <a:pt x="0" y="0"/>
                </a:moveTo>
                <a:lnTo>
                  <a:pt x="10362279" y="0"/>
                </a:lnTo>
                <a:lnTo>
                  <a:pt x="10362279" y="792164"/>
                </a:lnTo>
                <a:lnTo>
                  <a:pt x="0" y="792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6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8283" y="3994556"/>
            <a:ext cx="9042197" cy="5753098"/>
          </a:xfrm>
          <a:custGeom>
            <a:avLst/>
            <a:gdLst/>
            <a:ahLst/>
            <a:cxnLst/>
            <a:rect r="r" b="b" t="t" l="l"/>
            <a:pathLst>
              <a:path h="5753098" w="9042197">
                <a:moveTo>
                  <a:pt x="0" y="0"/>
                </a:moveTo>
                <a:lnTo>
                  <a:pt x="9042197" y="0"/>
                </a:lnTo>
                <a:lnTo>
                  <a:pt x="9042197" y="5753097"/>
                </a:lnTo>
                <a:lnTo>
                  <a:pt x="0" y="57530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712126"/>
            <a:ext cx="6072405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T</a:t>
            </a: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raccia le funzioni di libreria che vengono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linkate dinamicamente</a:t>
            </a:r>
          </a:p>
        </p:txBody>
      </p:sp>
      <p:sp>
        <p:nvSpPr>
          <p:cNvPr name="AutoShape 7" id="7"/>
          <p:cNvSpPr/>
          <p:nvPr/>
        </p:nvSpPr>
        <p:spPr>
          <a:xfrm>
            <a:off x="6190121" y="2378704"/>
            <a:ext cx="8899870" cy="1382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4739381" y="3994556"/>
            <a:ext cx="6109518" cy="485775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198" t="0" r="198" b="0"/>
          <a:stretch>
            <a:fillRect/>
          </a:stretch>
        </p:blipFill>
        <p:spPr>
          <a:xfrm flipH="false" flipV="false" rot="0">
            <a:off x="10657848" y="6165833"/>
            <a:ext cx="4116245" cy="2593234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81304" y="628762"/>
            <a:ext cx="1110315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Statica - ltrace &amp; strace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6683" y="9292358"/>
            <a:ext cx="679668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0"/>
              </a:lnSpc>
              <a:spcBef>
                <a:spcPct val="0"/>
              </a:spcBef>
            </a:pPr>
            <a:r>
              <a:rPr lang="en-US" b="true" sz="3000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“Av</a:t>
            </a:r>
            <a:r>
              <a:rPr lang="en-US" b="true" sz="3000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evamo bisogno di sapere di piu’ ...”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89526" y="3937406"/>
            <a:ext cx="6769774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spc="-2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traccia le system call che sono utilizzate all’interno del programma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60186" y="-2863627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-609027" y="9470728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5119529" y="637695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9"/>
                </a:lnTo>
                <a:lnTo>
                  <a:pt x="0" y="6560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7132439" y="700155"/>
            <a:ext cx="2011561" cy="1910579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0" y="2057718"/>
            <a:ext cx="811530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Debbuging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Analisi dello stack e dei registri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Analisi codice Assembly e memoria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 spc="-3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Verifica di eventuali protezioni anti-reverse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334191" y="4736077"/>
            <a:ext cx="7895945" cy="4522223"/>
          </a:xfrm>
          <a:custGeom>
            <a:avLst/>
            <a:gdLst/>
            <a:ahLst/>
            <a:cxnLst/>
            <a:rect r="r" b="b" t="t" l="l"/>
            <a:pathLst>
              <a:path h="4522223" w="7895945">
                <a:moveTo>
                  <a:pt x="0" y="0"/>
                </a:moveTo>
                <a:lnTo>
                  <a:pt x="7895945" y="0"/>
                </a:lnTo>
                <a:lnTo>
                  <a:pt x="7895945" y="4522223"/>
                </a:lnTo>
                <a:lnTo>
                  <a:pt x="0" y="4522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40441" y="3572102"/>
            <a:ext cx="8511711" cy="5033269"/>
          </a:xfrm>
          <a:custGeom>
            <a:avLst/>
            <a:gdLst/>
            <a:ahLst/>
            <a:cxnLst/>
            <a:rect r="r" b="b" t="t" l="l"/>
            <a:pathLst>
              <a:path h="5033269" w="8511711">
                <a:moveTo>
                  <a:pt x="0" y="0"/>
                </a:moveTo>
                <a:lnTo>
                  <a:pt x="8511711" y="0"/>
                </a:lnTo>
                <a:lnTo>
                  <a:pt x="8511711" y="5033269"/>
                </a:lnTo>
                <a:lnTo>
                  <a:pt x="0" y="50332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284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4191" y="292100"/>
            <a:ext cx="9707260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191" y="1357948"/>
            <a:ext cx="560272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spc="-31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Qui c’é un pó di diverimento...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37880" y="9429750"/>
            <a:ext cx="203954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Cutter - tool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3589" y="8791327"/>
            <a:ext cx="2309472" cy="46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4"/>
              </a:lnSpc>
              <a:spcBef>
                <a:spcPct val="0"/>
              </a:spcBef>
            </a:pPr>
            <a:r>
              <a:rPr lang="en-US" sz="313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radare2 - tool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99114" y="8036929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5"/>
                </a:lnTo>
                <a:lnTo>
                  <a:pt x="0" y="625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7188351" y="-671635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0"/>
                </a:lnTo>
                <a:lnTo>
                  <a:pt x="0" y="2412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661375" y="5264414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5502" y="1028700"/>
            <a:ext cx="6188456" cy="3544298"/>
          </a:xfrm>
          <a:custGeom>
            <a:avLst/>
            <a:gdLst/>
            <a:ahLst/>
            <a:cxnLst/>
            <a:rect r="r" b="b" t="t" l="l"/>
            <a:pathLst>
              <a:path h="3544298" w="6188456">
                <a:moveTo>
                  <a:pt x="0" y="0"/>
                </a:moveTo>
                <a:lnTo>
                  <a:pt x="6188456" y="0"/>
                </a:lnTo>
                <a:lnTo>
                  <a:pt x="6188456" y="3544298"/>
                </a:lnTo>
                <a:lnTo>
                  <a:pt x="0" y="35442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647" y="5935893"/>
            <a:ext cx="1948366" cy="4202074"/>
          </a:xfrm>
          <a:custGeom>
            <a:avLst/>
            <a:gdLst/>
            <a:ahLst/>
            <a:cxnLst/>
            <a:rect r="r" b="b" t="t" l="l"/>
            <a:pathLst>
              <a:path h="4202074" w="1948366">
                <a:moveTo>
                  <a:pt x="0" y="0"/>
                </a:moveTo>
                <a:lnTo>
                  <a:pt x="1948366" y="0"/>
                </a:lnTo>
                <a:lnTo>
                  <a:pt x="1948366" y="4202073"/>
                </a:lnTo>
                <a:lnTo>
                  <a:pt x="0" y="4202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77451" y="5935893"/>
            <a:ext cx="7428900" cy="4097742"/>
          </a:xfrm>
          <a:custGeom>
            <a:avLst/>
            <a:gdLst/>
            <a:ahLst/>
            <a:cxnLst/>
            <a:rect r="r" b="b" t="t" l="l"/>
            <a:pathLst>
              <a:path h="4097742" w="7428900">
                <a:moveTo>
                  <a:pt x="0" y="0"/>
                </a:moveTo>
                <a:lnTo>
                  <a:pt x="7428900" y="0"/>
                </a:lnTo>
                <a:lnTo>
                  <a:pt x="7428900" y="4097742"/>
                </a:lnTo>
                <a:lnTo>
                  <a:pt x="0" y="40977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18216" y="752979"/>
            <a:ext cx="3442581" cy="3170799"/>
          </a:xfrm>
          <a:custGeom>
            <a:avLst/>
            <a:gdLst/>
            <a:ahLst/>
            <a:cxnLst/>
            <a:rect r="r" b="b" t="t" l="l"/>
            <a:pathLst>
              <a:path h="3170799" w="3442581">
                <a:moveTo>
                  <a:pt x="0" y="0"/>
                </a:moveTo>
                <a:lnTo>
                  <a:pt x="3442581" y="0"/>
                </a:lnTo>
                <a:lnTo>
                  <a:pt x="3442581" y="3170799"/>
                </a:lnTo>
                <a:lnTo>
                  <a:pt x="0" y="31707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91360" y="4561853"/>
            <a:ext cx="6296583" cy="3475076"/>
          </a:xfrm>
          <a:custGeom>
            <a:avLst/>
            <a:gdLst/>
            <a:ahLst/>
            <a:cxnLst/>
            <a:rect r="r" b="b" t="t" l="l"/>
            <a:pathLst>
              <a:path h="3475076" w="6296583">
                <a:moveTo>
                  <a:pt x="0" y="0"/>
                </a:moveTo>
                <a:lnTo>
                  <a:pt x="6296583" y="0"/>
                </a:lnTo>
                <a:lnTo>
                  <a:pt x="6296583" y="3475076"/>
                </a:lnTo>
                <a:lnTo>
                  <a:pt x="0" y="34750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5502" y="282575"/>
            <a:ext cx="9342714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Cutter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591012" y="3511797"/>
            <a:ext cx="54635" cy="2370681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2494264" y="4572998"/>
            <a:ext cx="983188" cy="1416309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5718561" y="1871334"/>
            <a:ext cx="3799654" cy="256551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>
            <a:off x="6059476" y="4242661"/>
            <a:ext cx="5331884" cy="882837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9518216" y="341517"/>
            <a:ext cx="3913665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Tab - Registers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91360" y="4212857"/>
            <a:ext cx="3913665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Tab - HexDump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78709" y="5586897"/>
            <a:ext cx="3913665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Tab - Disassembly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5647" y="5586897"/>
            <a:ext cx="3913665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Tab - Function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71695" y="-4669924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-975758" y="9306314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3984995" y="6311807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7387" y="1584830"/>
            <a:ext cx="9636296" cy="1172477"/>
          </a:xfrm>
          <a:custGeom>
            <a:avLst/>
            <a:gdLst/>
            <a:ahLst/>
            <a:cxnLst/>
            <a:rect r="r" b="b" t="t" l="l"/>
            <a:pathLst>
              <a:path h="1172477" w="9636296">
                <a:moveTo>
                  <a:pt x="0" y="0"/>
                </a:moveTo>
                <a:lnTo>
                  <a:pt x="9636296" y="0"/>
                </a:lnTo>
                <a:lnTo>
                  <a:pt x="9636296" y="1172477"/>
                </a:lnTo>
                <a:lnTo>
                  <a:pt x="0" y="11724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387" y="3179129"/>
            <a:ext cx="11426537" cy="2798963"/>
          </a:xfrm>
          <a:custGeom>
            <a:avLst/>
            <a:gdLst/>
            <a:ahLst/>
            <a:cxnLst/>
            <a:rect r="r" b="b" t="t" l="l"/>
            <a:pathLst>
              <a:path h="2798963" w="11426537">
                <a:moveTo>
                  <a:pt x="0" y="0"/>
                </a:moveTo>
                <a:lnTo>
                  <a:pt x="11426537" y="0"/>
                </a:lnTo>
                <a:lnTo>
                  <a:pt x="11426537" y="2798963"/>
                </a:lnTo>
                <a:lnTo>
                  <a:pt x="0" y="2798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7387" y="7468751"/>
            <a:ext cx="7348348" cy="915818"/>
          </a:xfrm>
          <a:custGeom>
            <a:avLst/>
            <a:gdLst/>
            <a:ahLst/>
            <a:cxnLst/>
            <a:rect r="r" b="b" t="t" l="l"/>
            <a:pathLst>
              <a:path h="915818" w="7348348">
                <a:moveTo>
                  <a:pt x="0" y="0"/>
                </a:moveTo>
                <a:lnTo>
                  <a:pt x="7348349" y="0"/>
                </a:lnTo>
                <a:lnTo>
                  <a:pt x="7348349" y="915818"/>
                </a:lnTo>
                <a:lnTo>
                  <a:pt x="0" y="915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38880" y="7047956"/>
            <a:ext cx="9120420" cy="2673227"/>
          </a:xfrm>
          <a:custGeom>
            <a:avLst/>
            <a:gdLst/>
            <a:ahLst/>
            <a:cxnLst/>
            <a:rect r="r" b="b" t="t" l="l"/>
            <a:pathLst>
              <a:path h="2673227" w="9120420">
                <a:moveTo>
                  <a:pt x="0" y="0"/>
                </a:moveTo>
                <a:lnTo>
                  <a:pt x="9120420" y="0"/>
                </a:lnTo>
                <a:lnTo>
                  <a:pt x="9120420" y="2673226"/>
                </a:lnTo>
                <a:lnTo>
                  <a:pt x="0" y="26732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7387" y="447419"/>
            <a:ext cx="12331473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mmap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4887" y="1805944"/>
            <a:ext cx="7683730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Tale istruzione Assembly rappresenta la firma del metodo </a:t>
            </a:r>
            <a:r>
              <a:rPr lang="en-US" b="true" sz="24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mmap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47386" y="3842011"/>
            <a:ext cx="5937692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Utilizzando il plugin di </a:t>
            </a:r>
            <a:r>
              <a:rPr lang="en-US" sz="2499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Ghidra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riusciamo ad ottenere </a:t>
            </a:r>
          </a:p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un’interpretazione migliore del codice.</a:t>
            </a:r>
          </a:p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Infatti...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387" y="6765806"/>
            <a:ext cx="1233147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99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mmap - Ghidra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8880" y="6538159"/>
            <a:ext cx="1233147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99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mmap - C source code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09174" y="-3127377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-655122" y="9309295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0"/>
                </a:lnTo>
                <a:lnTo>
                  <a:pt x="0" y="2412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3240858" y="7235156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6831" y="1252580"/>
            <a:ext cx="8349179" cy="7441206"/>
          </a:xfrm>
          <a:custGeom>
            <a:avLst/>
            <a:gdLst/>
            <a:ahLst/>
            <a:cxnLst/>
            <a:rect r="r" b="b" t="t" l="l"/>
            <a:pathLst>
              <a:path h="7441206" w="8349179">
                <a:moveTo>
                  <a:pt x="0" y="0"/>
                </a:moveTo>
                <a:lnTo>
                  <a:pt x="8349179" y="0"/>
                </a:lnTo>
                <a:lnTo>
                  <a:pt x="8349179" y="7441205"/>
                </a:lnTo>
                <a:lnTo>
                  <a:pt x="0" y="74412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6831" y="157665"/>
            <a:ext cx="12278638" cy="89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6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fcn.000008d0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76010" y="1257856"/>
            <a:ext cx="8445970" cy="236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0"/>
              </a:lnSpc>
            </a:pPr>
            <a:r>
              <a:rPr lang="en-US" sz="2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Cutter permette di mappare attraverso dei grafi le funzioni presenti all’interno del binario.</a:t>
            </a:r>
          </a:p>
          <a:p>
            <a:pPr algn="ctr">
              <a:lnSpc>
                <a:spcPts val="2360"/>
              </a:lnSpc>
            </a:pPr>
          </a:p>
          <a:p>
            <a:pPr algn="ctr">
              <a:lnSpc>
                <a:spcPts val="2360"/>
              </a:lnSpc>
            </a:pPr>
            <a:r>
              <a:rPr lang="en-US" sz="2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La funzione prende come input </a:t>
            </a:r>
            <a:r>
              <a:rPr lang="en-US" sz="2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void *arg1 </a:t>
            </a:r>
            <a:r>
              <a:rPr lang="en-US" sz="2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</a:t>
            </a:r>
            <a:r>
              <a:rPr lang="en-US" sz="2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 </a:t>
            </a:r>
            <a:r>
              <a:rPr lang="en-US" sz="2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è il puntatore restituito dalla system call mmap </a:t>
            </a:r>
          </a:p>
          <a:p>
            <a:pPr algn="ctr">
              <a:lnSpc>
                <a:spcPts val="2360"/>
              </a:lnSpc>
            </a:pPr>
          </a:p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Possiamo subito notare la presenza di una </a:t>
            </a:r>
            <a:r>
              <a:rPr lang="en-US" b="true" sz="2000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malloc</a:t>
            </a:r>
            <a:r>
              <a:rPr lang="en-US" sz="2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per allocare memoria con size ( </a:t>
            </a:r>
            <a:r>
              <a:rPr lang="en-US" b="true" sz="2000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0xc0</a:t>
            </a:r>
            <a:r>
              <a:rPr lang="en-US" sz="2000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) 192 bytes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32400" y="3925755"/>
            <a:ext cx="6946138" cy="595630"/>
            <a:chOff x="0" y="0"/>
            <a:chExt cx="9261517" cy="794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8818" cy="775407"/>
            </a:xfrm>
            <a:custGeom>
              <a:avLst/>
              <a:gdLst/>
              <a:ahLst/>
              <a:cxnLst/>
              <a:rect r="r" b="b" t="t" l="l"/>
              <a:pathLst>
                <a:path h="775407" w="518818">
                  <a:moveTo>
                    <a:pt x="0" y="0"/>
                  </a:moveTo>
                  <a:lnTo>
                    <a:pt x="518818" y="0"/>
                  </a:lnTo>
                  <a:lnTo>
                    <a:pt x="518818" y="775407"/>
                  </a:lnTo>
                  <a:lnTo>
                    <a:pt x="0" y="77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709089" y="0"/>
              <a:ext cx="8552429" cy="7941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Si presuppone che tale comando allochi un array di 192 bytes ( ma non si sa bene il tipo ? 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03020" y="6045164"/>
            <a:ext cx="7649075" cy="895996"/>
            <a:chOff x="0" y="0"/>
            <a:chExt cx="10198767" cy="1194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5040" cy="1194662"/>
            </a:xfrm>
            <a:custGeom>
              <a:avLst/>
              <a:gdLst/>
              <a:ahLst/>
              <a:cxnLst/>
              <a:rect r="r" b="b" t="t" l="l"/>
              <a:pathLst>
                <a:path h="1194662" w="1395040">
                  <a:moveTo>
                    <a:pt x="0" y="0"/>
                  </a:moveTo>
                  <a:lnTo>
                    <a:pt x="1395040" y="0"/>
                  </a:lnTo>
                  <a:lnTo>
                    <a:pt x="1395040" y="1194662"/>
                  </a:lnTo>
                  <a:lnTo>
                    <a:pt x="0" y="11946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646338" y="0"/>
              <a:ext cx="8552429" cy="1187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</a:pP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Il ciclo effettua ( </a:t>
              </a:r>
              <a:r>
                <a:rPr lang="en-US" sz="2000" b="true">
                  <a:solidFill>
                    <a:srgbClr val="4D1354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0x16</a:t>
              </a: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 ) 23 iterazioni</a:t>
              </a:r>
            </a:p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All’interno del ciclo possiamo notare una seconda </a:t>
              </a:r>
              <a:r>
                <a:rPr lang="en-US" b="true" sz="2000">
                  <a:solidFill>
                    <a:srgbClr val="4D1354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malloc </a:t>
              </a: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che alloca ad ogni iterazione ( </a:t>
              </a:r>
              <a:r>
                <a:rPr lang="en-US" b="true" sz="2000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0x10</a:t>
              </a: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 ) 16 bytes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32400" y="4839934"/>
            <a:ext cx="6946138" cy="890905"/>
            <a:chOff x="0" y="0"/>
            <a:chExt cx="9261517" cy="11878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8818" cy="775407"/>
            </a:xfrm>
            <a:custGeom>
              <a:avLst/>
              <a:gdLst/>
              <a:ahLst/>
              <a:cxnLst/>
              <a:rect r="r" b="b" t="t" l="l"/>
              <a:pathLst>
                <a:path h="775407" w="518818">
                  <a:moveTo>
                    <a:pt x="0" y="0"/>
                  </a:moveTo>
                  <a:lnTo>
                    <a:pt x="518818" y="0"/>
                  </a:lnTo>
                  <a:lnTo>
                    <a:pt x="518818" y="775407"/>
                  </a:lnTo>
                  <a:lnTo>
                    <a:pt x="0" y="77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709089" y="0"/>
              <a:ext cx="8552429" cy="1187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Se si allocano 192 bytes e supponendo che all’interno di ogni cella vi sono 8 bytes ciascuno, avremo un array di 24 celle</a:t>
              </a:r>
            </a:p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con indice che va da 0-23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96018" y="7255485"/>
            <a:ext cx="7418903" cy="1209145"/>
            <a:chOff x="0" y="0"/>
            <a:chExt cx="9891871" cy="16121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213" cy="1218493"/>
            </a:xfrm>
            <a:custGeom>
              <a:avLst/>
              <a:gdLst/>
              <a:ahLst/>
              <a:cxnLst/>
              <a:rect r="r" b="b" t="t" l="l"/>
              <a:pathLst>
                <a:path h="1218493" w="1092213">
                  <a:moveTo>
                    <a:pt x="0" y="0"/>
                  </a:moveTo>
                  <a:lnTo>
                    <a:pt x="1092213" y="0"/>
                  </a:lnTo>
                  <a:lnTo>
                    <a:pt x="1092213" y="1218493"/>
                  </a:lnTo>
                  <a:lnTo>
                    <a:pt x="0" y="1218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1339442" y="30619"/>
              <a:ext cx="8552429" cy="1581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Una prima ipotesi è che effettuando una </a:t>
              </a:r>
              <a:r>
                <a:rPr lang="en-US" sz="2000">
                  <a:solidFill>
                    <a:srgbClr val="731F7D"/>
                  </a:solidFill>
                  <a:latin typeface="Halant"/>
                  <a:ea typeface="Halant"/>
                  <a:cs typeface="Halant"/>
                  <a:sym typeface="Halant"/>
                </a:rPr>
                <a:t>malloc </a:t>
              </a:r>
              <a:r>
                <a:rPr lang="en-US" sz="2000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all’interno dell’array allora possiamo pensare che sia un’array di puntatori (?) all’interno dell’area di memoria che abbiamo passato come argomento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90257">
            <a:off x="-244446" y="9080695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2" y="0"/>
                </a:lnTo>
                <a:lnTo>
                  <a:pt x="2546292" y="2412610"/>
                </a:lnTo>
                <a:lnTo>
                  <a:pt x="0" y="2412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148233">
            <a:off x="16080390" y="-2900829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7225" y="1437251"/>
            <a:ext cx="6719361" cy="1311095"/>
          </a:xfrm>
          <a:custGeom>
            <a:avLst/>
            <a:gdLst/>
            <a:ahLst/>
            <a:cxnLst/>
            <a:rect r="r" b="b" t="t" l="l"/>
            <a:pathLst>
              <a:path h="1311095" w="6719361">
                <a:moveTo>
                  <a:pt x="0" y="0"/>
                </a:moveTo>
                <a:lnTo>
                  <a:pt x="6719362" y="0"/>
                </a:lnTo>
                <a:lnTo>
                  <a:pt x="6719362" y="1311095"/>
                </a:lnTo>
                <a:lnTo>
                  <a:pt x="0" y="1311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7225" y="3291271"/>
            <a:ext cx="7401483" cy="1486556"/>
          </a:xfrm>
          <a:custGeom>
            <a:avLst/>
            <a:gdLst/>
            <a:ahLst/>
            <a:cxnLst/>
            <a:rect r="r" b="b" t="t" l="l"/>
            <a:pathLst>
              <a:path h="1486556" w="7401483">
                <a:moveTo>
                  <a:pt x="0" y="0"/>
                </a:moveTo>
                <a:lnTo>
                  <a:pt x="7401484" y="0"/>
                </a:lnTo>
                <a:lnTo>
                  <a:pt x="7401484" y="1486556"/>
                </a:lnTo>
                <a:lnTo>
                  <a:pt x="0" y="14865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2570" y="5612411"/>
            <a:ext cx="2772570" cy="2138419"/>
          </a:xfrm>
          <a:custGeom>
            <a:avLst/>
            <a:gdLst/>
            <a:ahLst/>
            <a:cxnLst/>
            <a:rect r="r" b="b" t="t" l="l"/>
            <a:pathLst>
              <a:path h="2138419" w="2772570">
                <a:moveTo>
                  <a:pt x="0" y="0"/>
                </a:moveTo>
                <a:lnTo>
                  <a:pt x="2772570" y="0"/>
                </a:lnTo>
                <a:lnTo>
                  <a:pt x="2772570" y="2138418"/>
                </a:lnTo>
                <a:lnTo>
                  <a:pt x="0" y="2138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83551" y="5612411"/>
            <a:ext cx="6821222" cy="3760198"/>
          </a:xfrm>
          <a:custGeom>
            <a:avLst/>
            <a:gdLst/>
            <a:ahLst/>
            <a:cxnLst/>
            <a:rect r="r" b="b" t="t" l="l"/>
            <a:pathLst>
              <a:path h="3760198" w="6821222">
                <a:moveTo>
                  <a:pt x="0" y="0"/>
                </a:moveTo>
                <a:lnTo>
                  <a:pt x="6821221" y="0"/>
                </a:lnTo>
                <a:lnTo>
                  <a:pt x="6821221" y="3760198"/>
                </a:lnTo>
                <a:lnTo>
                  <a:pt x="0" y="3760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605902" y="5595537"/>
            <a:ext cx="7076422" cy="1208428"/>
            <a:chOff x="0" y="0"/>
            <a:chExt cx="9435229" cy="1611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8549" cy="789951"/>
            </a:xfrm>
            <a:custGeom>
              <a:avLst/>
              <a:gdLst/>
              <a:ahLst/>
              <a:cxnLst/>
              <a:rect r="r" b="b" t="t" l="l"/>
              <a:pathLst>
                <a:path h="789951" w="528549">
                  <a:moveTo>
                    <a:pt x="0" y="0"/>
                  </a:moveTo>
                  <a:lnTo>
                    <a:pt x="528549" y="0"/>
                  </a:lnTo>
                  <a:lnTo>
                    <a:pt x="528549" y="789951"/>
                  </a:lnTo>
                  <a:lnTo>
                    <a:pt x="0" y="789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722388" y="0"/>
              <a:ext cx="8712841" cy="16112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4"/>
                </a:lnSpc>
                <a:spcBef>
                  <a:spcPct val="0"/>
                </a:spcBef>
              </a:pPr>
              <a:r>
                <a:rPr lang="en-US" sz="20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La visualizzazione HexDump non ci dice molte informazioni, ma se invece la guardiamo in disassembly sembra che ci sia del codice che risulta essere totalmente nascosto agl’occhi del disassemblatore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05902" y="7299266"/>
            <a:ext cx="7076422" cy="606802"/>
            <a:chOff x="0" y="0"/>
            <a:chExt cx="9435229" cy="8090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8549" cy="789951"/>
            </a:xfrm>
            <a:custGeom>
              <a:avLst/>
              <a:gdLst/>
              <a:ahLst/>
              <a:cxnLst/>
              <a:rect r="r" b="b" t="t" l="l"/>
              <a:pathLst>
                <a:path h="789951" w="528549">
                  <a:moveTo>
                    <a:pt x="0" y="0"/>
                  </a:moveTo>
                  <a:lnTo>
                    <a:pt x="528549" y="0"/>
                  </a:lnTo>
                  <a:lnTo>
                    <a:pt x="528549" y="789951"/>
                  </a:lnTo>
                  <a:lnTo>
                    <a:pt x="0" y="789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22388" y="0"/>
              <a:ext cx="8712841" cy="8090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4"/>
                </a:lnSpc>
                <a:spcBef>
                  <a:spcPct val="0"/>
                </a:spcBef>
              </a:pPr>
              <a:r>
                <a:rPr lang="en-US" sz="20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La memcpy tende a copiare quello che risiede dall’indirizzo sorgente all’indirizzo destinazione con una certa size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8694" y="389140"/>
            <a:ext cx="16184723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memcpy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38352" y="1685346"/>
            <a:ext cx="7965311" cy="106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2"/>
              </a:lnSpc>
            </a:pPr>
            <a:r>
              <a:rPr lang="en-US" sz="2392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La funzione </a:t>
            </a:r>
            <a:r>
              <a:rPr lang="en-US" sz="2392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memcpy()</a:t>
            </a:r>
            <a:r>
              <a:rPr lang="en-US" sz="2392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prende come primo parametro </a:t>
            </a:r>
          </a:p>
          <a:p>
            <a:pPr algn="ctr">
              <a:lnSpc>
                <a:spcPts val="2822"/>
              </a:lnSpc>
              <a:spcBef>
                <a:spcPct val="0"/>
              </a:spcBef>
            </a:pPr>
            <a:r>
              <a:rPr lang="en-US" b="true" sz="2392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arg1 </a:t>
            </a:r>
            <a:r>
              <a:rPr lang="en-US" sz="2392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 è stato generato da </a:t>
            </a:r>
            <a:r>
              <a:rPr lang="en-US" b="true" sz="2392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mmap()</a:t>
            </a:r>
            <a:r>
              <a:rPr lang="en-US" sz="2392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e che è stato passato alla funzione </a:t>
            </a:r>
            <a:r>
              <a:rPr lang="en-US" b="true" sz="2392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fcn.000008d0()</a:t>
            </a:r>
            <a:r>
              <a:rPr lang="en-US" sz="2392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04289" y="3336454"/>
            <a:ext cx="7462801" cy="167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sz="224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Prende come secondo parametro una locazione di memoria che è visualizzabile mediante “</a:t>
            </a:r>
            <a:r>
              <a:rPr lang="en-US" b="true" sz="2241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Disassembly</a:t>
            </a:r>
            <a:r>
              <a:rPr lang="en-US" sz="224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e “</a:t>
            </a:r>
            <a:r>
              <a:rPr lang="en-US" b="true" sz="2241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Hexdump</a:t>
            </a:r>
            <a:r>
              <a:rPr lang="en-US" sz="224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</a:t>
            </a:r>
          </a:p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sz="224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per vedere a che cosa punta.</a:t>
            </a:r>
          </a:p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sz="224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Come terzo parametro prende un valore esadecimale ( </a:t>
            </a:r>
            <a:r>
              <a:rPr lang="en-US" b="true" sz="2241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0x2f5</a:t>
            </a:r>
            <a:r>
              <a:rPr lang="en-US" sz="224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) </a:t>
            </a:r>
            <a:r>
              <a:rPr lang="en-US" b="true" sz="2241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757 bytes</a:t>
            </a:r>
            <a:r>
              <a:rPr lang="en-US" sz="2241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501848" y="8496617"/>
            <a:ext cx="7180476" cy="919575"/>
            <a:chOff x="0" y="0"/>
            <a:chExt cx="9573968" cy="1226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213" cy="1218493"/>
            </a:xfrm>
            <a:custGeom>
              <a:avLst/>
              <a:gdLst/>
              <a:ahLst/>
              <a:cxnLst/>
              <a:rect r="r" b="b" t="t" l="l"/>
              <a:pathLst>
                <a:path h="1218493" w="1092213">
                  <a:moveTo>
                    <a:pt x="0" y="0"/>
                  </a:moveTo>
                  <a:lnTo>
                    <a:pt x="1092213" y="0"/>
                  </a:lnTo>
                  <a:lnTo>
                    <a:pt x="1092213" y="1218493"/>
                  </a:lnTo>
                  <a:lnTo>
                    <a:pt x="0" y="1218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861127" y="0"/>
              <a:ext cx="8712841" cy="122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4"/>
                </a:lnSpc>
              </a:pPr>
              <a:r>
                <a:rPr lang="en-US" sz="20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L’indirizzo sorgente corrisponde al secondo parametro, mentre l’indirizzo destinazione corrisponde </a:t>
              </a:r>
              <a:r>
                <a:rPr lang="en-US" sz="2037" b="true">
                  <a:solidFill>
                    <a:srgbClr val="4D1354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arg1</a:t>
              </a:r>
            </a:p>
            <a:p>
              <a:pPr algn="ctr">
                <a:lnSpc>
                  <a:spcPts val="2404"/>
                </a:lnSpc>
                <a:spcBef>
                  <a:spcPct val="0"/>
                </a:spcBef>
              </a:pPr>
              <a:r>
                <a:rPr lang="en-US" sz="20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( Presenza di codice offuscato ? )</a:t>
              </a:r>
              <a:r>
                <a:rPr lang="en-US" sz="2037">
                  <a:solidFill>
                    <a:srgbClr val="4D1354"/>
                  </a:solidFill>
                  <a:latin typeface="Halant"/>
                  <a:ea typeface="Halant"/>
                  <a:cs typeface="Halant"/>
                  <a:sym typeface="Halant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47852" y="-3892618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3" y="0"/>
                </a:lnTo>
                <a:lnTo>
                  <a:pt x="7027813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500030" y="9645209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8045136" y="994756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96728" y="1388972"/>
            <a:ext cx="9120896" cy="3665407"/>
          </a:xfrm>
          <a:custGeom>
            <a:avLst/>
            <a:gdLst/>
            <a:ahLst/>
            <a:cxnLst/>
            <a:rect r="r" b="b" t="t" l="l"/>
            <a:pathLst>
              <a:path h="3665407" w="9120896">
                <a:moveTo>
                  <a:pt x="0" y="0"/>
                </a:moveTo>
                <a:lnTo>
                  <a:pt x="9120896" y="0"/>
                </a:lnTo>
                <a:lnTo>
                  <a:pt x="9120896" y="3665407"/>
                </a:lnTo>
                <a:lnTo>
                  <a:pt x="0" y="3665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541" y="2628831"/>
            <a:ext cx="819159" cy="913870"/>
          </a:xfrm>
          <a:custGeom>
            <a:avLst/>
            <a:gdLst/>
            <a:ahLst/>
            <a:cxnLst/>
            <a:rect r="r" b="b" t="t" l="l"/>
            <a:pathLst>
              <a:path h="913870" w="819159">
                <a:moveTo>
                  <a:pt x="0" y="0"/>
                </a:moveTo>
                <a:lnTo>
                  <a:pt x="819159" y="0"/>
                </a:lnTo>
                <a:lnTo>
                  <a:pt x="819159" y="913870"/>
                </a:lnTo>
                <a:lnTo>
                  <a:pt x="0" y="913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2418" y="3818266"/>
            <a:ext cx="819159" cy="913870"/>
          </a:xfrm>
          <a:custGeom>
            <a:avLst/>
            <a:gdLst/>
            <a:ahLst/>
            <a:cxnLst/>
            <a:rect r="r" b="b" t="t" l="l"/>
            <a:pathLst>
              <a:path h="913870" w="819159">
                <a:moveTo>
                  <a:pt x="0" y="0"/>
                </a:moveTo>
                <a:lnTo>
                  <a:pt x="819160" y="0"/>
                </a:lnTo>
                <a:lnTo>
                  <a:pt x="819160" y="913869"/>
                </a:lnTo>
                <a:lnTo>
                  <a:pt x="0" y="913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982" y="1388972"/>
            <a:ext cx="936033" cy="848239"/>
          </a:xfrm>
          <a:custGeom>
            <a:avLst/>
            <a:gdLst/>
            <a:ahLst/>
            <a:cxnLst/>
            <a:rect r="r" b="b" t="t" l="l"/>
            <a:pathLst>
              <a:path h="848239" w="936033">
                <a:moveTo>
                  <a:pt x="0" y="0"/>
                </a:moveTo>
                <a:lnTo>
                  <a:pt x="936033" y="0"/>
                </a:lnTo>
                <a:lnTo>
                  <a:pt x="936033" y="848239"/>
                </a:lnTo>
                <a:lnTo>
                  <a:pt x="0" y="848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5847765"/>
            <a:ext cx="1317330" cy="1329415"/>
          </a:xfrm>
          <a:custGeom>
            <a:avLst/>
            <a:gdLst/>
            <a:ahLst/>
            <a:cxnLst/>
            <a:rect r="r" b="b" t="t" l="l"/>
            <a:pathLst>
              <a:path h="1329415" w="1317330">
                <a:moveTo>
                  <a:pt x="0" y="0"/>
                </a:moveTo>
                <a:lnTo>
                  <a:pt x="1317330" y="0"/>
                </a:lnTo>
                <a:lnTo>
                  <a:pt x="1317330" y="1329415"/>
                </a:lnTo>
                <a:lnTo>
                  <a:pt x="0" y="13294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92267" y="5992976"/>
            <a:ext cx="2027124" cy="813639"/>
          </a:xfrm>
          <a:custGeom>
            <a:avLst/>
            <a:gdLst/>
            <a:ahLst/>
            <a:cxnLst/>
            <a:rect r="r" b="b" t="t" l="l"/>
            <a:pathLst>
              <a:path h="813639" w="2027124">
                <a:moveTo>
                  <a:pt x="0" y="0"/>
                </a:moveTo>
                <a:lnTo>
                  <a:pt x="2027124" y="0"/>
                </a:lnTo>
                <a:lnTo>
                  <a:pt x="2027124" y="813640"/>
                </a:lnTo>
                <a:lnTo>
                  <a:pt x="0" y="813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25530" y="6975263"/>
            <a:ext cx="2311634" cy="1038475"/>
          </a:xfrm>
          <a:custGeom>
            <a:avLst/>
            <a:gdLst/>
            <a:ahLst/>
            <a:cxnLst/>
            <a:rect r="r" b="b" t="t" l="l"/>
            <a:pathLst>
              <a:path h="1038475" w="2311634">
                <a:moveTo>
                  <a:pt x="0" y="0"/>
                </a:moveTo>
                <a:lnTo>
                  <a:pt x="2311634" y="0"/>
                </a:lnTo>
                <a:lnTo>
                  <a:pt x="2311634" y="1038476"/>
                </a:lnTo>
                <a:lnTo>
                  <a:pt x="0" y="10384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96383" y="6509928"/>
            <a:ext cx="2139229" cy="933184"/>
          </a:xfrm>
          <a:custGeom>
            <a:avLst/>
            <a:gdLst/>
            <a:ahLst/>
            <a:cxnLst/>
            <a:rect r="r" b="b" t="t" l="l"/>
            <a:pathLst>
              <a:path h="933184" w="2139229">
                <a:moveTo>
                  <a:pt x="0" y="0"/>
                </a:moveTo>
                <a:lnTo>
                  <a:pt x="2139229" y="0"/>
                </a:lnTo>
                <a:lnTo>
                  <a:pt x="2139229" y="933184"/>
                </a:lnTo>
                <a:lnTo>
                  <a:pt x="0" y="93318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5"/>
          <a:srcRect l="0" t="0" r="0" b="0"/>
          <a:stretch>
            <a:fillRect/>
          </a:stretch>
        </p:blipFill>
        <p:spPr>
          <a:xfrm flipH="false" flipV="false" rot="0">
            <a:off x="13186076" y="4865952"/>
            <a:ext cx="4403049" cy="2928028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1330345" y="7151953"/>
            <a:ext cx="2388503" cy="1059467"/>
          </a:xfrm>
          <a:custGeom>
            <a:avLst/>
            <a:gdLst/>
            <a:ahLst/>
            <a:cxnLst/>
            <a:rect r="r" b="b" t="t" l="l"/>
            <a:pathLst>
              <a:path h="1059467" w="2388503">
                <a:moveTo>
                  <a:pt x="0" y="0"/>
                </a:moveTo>
                <a:lnTo>
                  <a:pt x="2388503" y="0"/>
                </a:lnTo>
                <a:lnTo>
                  <a:pt x="2388503" y="1059468"/>
                </a:lnTo>
                <a:lnTo>
                  <a:pt x="0" y="10594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186076" y="8013739"/>
            <a:ext cx="2181284" cy="969459"/>
          </a:xfrm>
          <a:custGeom>
            <a:avLst/>
            <a:gdLst/>
            <a:ahLst/>
            <a:cxnLst/>
            <a:rect r="r" b="b" t="t" l="l"/>
            <a:pathLst>
              <a:path h="969459" w="2181284">
                <a:moveTo>
                  <a:pt x="0" y="0"/>
                </a:moveTo>
                <a:lnTo>
                  <a:pt x="2181283" y="0"/>
                </a:lnTo>
                <a:lnTo>
                  <a:pt x="2181283" y="969459"/>
                </a:lnTo>
                <a:lnTo>
                  <a:pt x="0" y="9694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81347" y="7793979"/>
            <a:ext cx="2376873" cy="1096071"/>
          </a:xfrm>
          <a:custGeom>
            <a:avLst/>
            <a:gdLst/>
            <a:ahLst/>
            <a:cxnLst/>
            <a:rect r="r" b="b" t="t" l="l"/>
            <a:pathLst>
              <a:path h="1096071" w="2376873">
                <a:moveTo>
                  <a:pt x="0" y="0"/>
                </a:moveTo>
                <a:lnTo>
                  <a:pt x="2376873" y="0"/>
                </a:lnTo>
                <a:lnTo>
                  <a:pt x="2376873" y="1096071"/>
                </a:lnTo>
                <a:lnTo>
                  <a:pt x="0" y="109607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5149" y="8534785"/>
            <a:ext cx="2003142" cy="900113"/>
          </a:xfrm>
          <a:custGeom>
            <a:avLst/>
            <a:gdLst/>
            <a:ahLst/>
            <a:cxnLst/>
            <a:rect r="r" b="b" t="t" l="l"/>
            <a:pathLst>
              <a:path h="900113" w="2003142">
                <a:moveTo>
                  <a:pt x="0" y="0"/>
                </a:moveTo>
                <a:lnTo>
                  <a:pt x="2003142" y="0"/>
                </a:lnTo>
                <a:lnTo>
                  <a:pt x="2003142" y="900113"/>
                </a:lnTo>
                <a:lnTo>
                  <a:pt x="0" y="90011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14593" y="8988571"/>
            <a:ext cx="1988427" cy="892654"/>
          </a:xfrm>
          <a:custGeom>
            <a:avLst/>
            <a:gdLst/>
            <a:ahLst/>
            <a:cxnLst/>
            <a:rect r="r" b="b" t="t" l="l"/>
            <a:pathLst>
              <a:path h="892654" w="1988427">
                <a:moveTo>
                  <a:pt x="0" y="0"/>
                </a:moveTo>
                <a:lnTo>
                  <a:pt x="1988427" y="0"/>
                </a:lnTo>
                <a:lnTo>
                  <a:pt x="1988427" y="892654"/>
                </a:lnTo>
                <a:lnTo>
                  <a:pt x="0" y="89265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pic>
        <p:nvPicPr>
          <p:cNvPr name="Picture 19" id="19">
            <a:hlinkClick action="ppaction://media"/>
          </p:cNvPr>
          <p:cNvPicPr>
            <a:picLocks noChangeAspect="true"/>
          </p:cNvPicPr>
          <p:nvPr>
            <a:videoFile r:link="rId22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21"/>
          <a:srcRect l="0" t="0" r="0" b="0"/>
          <a:stretch>
            <a:fillRect/>
          </a:stretch>
        </p:blipFill>
        <p:spPr>
          <a:xfrm flipH="false" flipV="false" rot="0">
            <a:off x="2081746" y="7443112"/>
            <a:ext cx="3364745" cy="2691796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07556" y="226760"/>
            <a:ext cx="13249620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Primi tentativi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8560" y="1631132"/>
            <a:ext cx="7437787" cy="34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2"/>
              </a:lnSpc>
              <a:spcBef>
                <a:spcPct val="0"/>
              </a:spcBef>
            </a:pPr>
            <a:r>
              <a:rPr lang="en-US" sz="2392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All’interno del codice vi sono due condizioni.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9625" y="2877935"/>
            <a:ext cx="7271722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La prima condizione ci indica che il programma deve ricevere esattamente </a:t>
            </a:r>
            <a:r>
              <a:rPr lang="en-US" sz="2499">
                <a:solidFill>
                  <a:srgbClr val="4D1354"/>
                </a:solidFill>
                <a:latin typeface="Halant"/>
                <a:ea typeface="Halant"/>
                <a:cs typeface="Halant"/>
                <a:sym typeface="Halant"/>
              </a:rPr>
              <a:t>due 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parametri</a:t>
            </a:r>
          </a:p>
          <a:p>
            <a:pPr algn="ctr">
              <a:lnSpc>
                <a:spcPts val="2949"/>
              </a:lnSpc>
            </a:pPr>
          </a:p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La seconda condizione ci indica che la lunghezza del parametro in input deve</a:t>
            </a:r>
            <a:r>
              <a:rPr lang="en-US" b="true" sz="24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 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essere di ( </a:t>
            </a:r>
            <a:r>
              <a:rPr lang="en-US" b="true" sz="2499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0x17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) </a:t>
            </a:r>
            <a:r>
              <a:rPr lang="en-US" b="true" sz="24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23 caratteri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7330" y="5717263"/>
            <a:ext cx="6620248" cy="185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499" b="true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Cominciamo a sottoporre al programma morph vari input randomici che rispettano queste condizioni e cerchiamo di ottenere altre informazioni mediante il </a:t>
            </a:r>
          </a:p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debugging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8665" y="5132185"/>
            <a:ext cx="7979093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 u="sng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In caso di errore, il programma chiama la system call exit(1)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37538" y="-3440124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5"/>
                </a:lnTo>
                <a:lnTo>
                  <a:pt x="0" y="625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-489783" y="9531540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2" y="0"/>
                </a:lnTo>
                <a:lnTo>
                  <a:pt x="2546292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7353485" y="1806221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9"/>
                </a:lnTo>
                <a:lnTo>
                  <a:pt x="0" y="65608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7387" y="1293294"/>
            <a:ext cx="8116163" cy="4533948"/>
          </a:xfrm>
          <a:custGeom>
            <a:avLst/>
            <a:gdLst/>
            <a:ahLst/>
            <a:cxnLst/>
            <a:rect r="r" b="b" t="t" l="l"/>
            <a:pathLst>
              <a:path h="4533948" w="8116163">
                <a:moveTo>
                  <a:pt x="0" y="0"/>
                </a:moveTo>
                <a:lnTo>
                  <a:pt x="8116163" y="0"/>
                </a:lnTo>
                <a:lnTo>
                  <a:pt x="8116163" y="4533948"/>
                </a:lnTo>
                <a:lnTo>
                  <a:pt x="0" y="4533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7387" y="395214"/>
            <a:ext cx="10220089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fcn.00000987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9314" y="1491899"/>
            <a:ext cx="5400148" cy="224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</a:p>
          <a:p>
            <a:pPr algn="l">
              <a:lnSpc>
                <a:spcPts val="3539"/>
              </a:lnSpc>
            </a:pPr>
          </a:p>
          <a:p>
            <a:pPr algn="l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È possibile notare che vi s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ono :</a:t>
            </a:r>
          </a:p>
          <a:p>
            <a:pPr algn="l" marL="647695" indent="-323848" lvl="1">
              <a:lnSpc>
                <a:spcPts val="35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system call 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time()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</a:t>
            </a:r>
          </a:p>
          <a:p>
            <a:pPr algn="l" marL="647695" indent="-323848" lvl="1">
              <a:lnSpc>
                <a:spcPts val="353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system call 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rand()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2285729" y="3053636"/>
            <a:ext cx="8002089" cy="0"/>
          </a:xfrm>
          <a:prstGeom prst="line">
            <a:avLst/>
          </a:prstGeom>
          <a:ln cap="flat" w="38100">
            <a:solidFill>
              <a:srgbClr val="731F7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 flipH="true">
            <a:off x="2413771" y="3560268"/>
            <a:ext cx="7957793" cy="116569"/>
          </a:xfrm>
          <a:prstGeom prst="line">
            <a:avLst/>
          </a:prstGeom>
          <a:ln cap="flat" w="38100">
            <a:solidFill>
              <a:srgbClr val="731F7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196090" y="4223669"/>
            <a:ext cx="4861556" cy="3241037"/>
          </a:xfrm>
          <a:custGeom>
            <a:avLst/>
            <a:gdLst/>
            <a:ahLst/>
            <a:cxnLst/>
            <a:rect r="r" b="b" t="t" l="l"/>
            <a:pathLst>
              <a:path h="3241037" w="4861556">
                <a:moveTo>
                  <a:pt x="0" y="0"/>
                </a:moveTo>
                <a:lnTo>
                  <a:pt x="4861556" y="0"/>
                </a:lnTo>
                <a:lnTo>
                  <a:pt x="4861556" y="3241037"/>
                </a:lnTo>
                <a:lnTo>
                  <a:pt x="0" y="3241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9552" y="6190177"/>
            <a:ext cx="643425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Quello che possiamo ipotizzare é 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7869475"/>
            <a:ext cx="7076422" cy="1120870"/>
            <a:chOff x="0" y="0"/>
            <a:chExt cx="9435229" cy="14944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8549" cy="789951"/>
            </a:xfrm>
            <a:custGeom>
              <a:avLst/>
              <a:gdLst/>
              <a:ahLst/>
              <a:cxnLst/>
              <a:rect r="r" b="b" t="t" l="l"/>
              <a:pathLst>
                <a:path h="789951" w="528549">
                  <a:moveTo>
                    <a:pt x="0" y="0"/>
                  </a:moveTo>
                  <a:lnTo>
                    <a:pt x="528549" y="0"/>
                  </a:lnTo>
                  <a:lnTo>
                    <a:pt x="528549" y="789951"/>
                  </a:lnTo>
                  <a:lnTo>
                    <a:pt x="0" y="789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722388" y="9525"/>
              <a:ext cx="8712841" cy="1484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4"/>
                </a:lnSpc>
                <a:spcBef>
                  <a:spcPct val="0"/>
                </a:spcBef>
              </a:pPr>
              <a:r>
                <a:rPr lang="en-US" sz="25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produce dei valori randomici sempre in modulo 23 e sposta i valori che sono mappati all'interno della memoria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9023" y="7124612"/>
            <a:ext cx="7076422" cy="592463"/>
            <a:chOff x="0" y="0"/>
            <a:chExt cx="9435229" cy="7899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8549" cy="789951"/>
            </a:xfrm>
            <a:custGeom>
              <a:avLst/>
              <a:gdLst/>
              <a:ahLst/>
              <a:cxnLst/>
              <a:rect r="r" b="b" t="t" l="l"/>
              <a:pathLst>
                <a:path h="789951" w="528549">
                  <a:moveTo>
                    <a:pt x="0" y="0"/>
                  </a:moveTo>
                  <a:lnTo>
                    <a:pt x="528549" y="0"/>
                  </a:lnTo>
                  <a:lnTo>
                    <a:pt x="528549" y="789951"/>
                  </a:lnTo>
                  <a:lnTo>
                    <a:pt x="0" y="789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722388" y="9525"/>
              <a:ext cx="8712841" cy="494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4"/>
                </a:lnSpc>
                <a:spcBef>
                  <a:spcPct val="0"/>
                </a:spcBef>
              </a:pPr>
              <a:r>
                <a:rPr lang="en-US" sz="25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Il for viene ripetuto 256 volte valore di ( </a:t>
              </a:r>
              <a:r>
                <a:rPr lang="en-US" b="true" sz="2537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0x100 </a:t>
              </a:r>
              <a:r>
                <a:rPr lang="en-US" sz="25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)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7128" y="9142746"/>
            <a:ext cx="7076422" cy="749395"/>
            <a:chOff x="0" y="0"/>
            <a:chExt cx="9435229" cy="9991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8549" cy="789951"/>
            </a:xfrm>
            <a:custGeom>
              <a:avLst/>
              <a:gdLst/>
              <a:ahLst/>
              <a:cxnLst/>
              <a:rect r="r" b="b" t="t" l="l"/>
              <a:pathLst>
                <a:path h="789951" w="528549">
                  <a:moveTo>
                    <a:pt x="0" y="0"/>
                  </a:moveTo>
                  <a:lnTo>
                    <a:pt x="528549" y="0"/>
                  </a:lnTo>
                  <a:lnTo>
                    <a:pt x="528549" y="789951"/>
                  </a:lnTo>
                  <a:lnTo>
                    <a:pt x="0" y="7899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722388" y="9525"/>
              <a:ext cx="8712841" cy="989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4"/>
                </a:lnSpc>
                <a:spcBef>
                  <a:spcPct val="0"/>
                </a:spcBef>
              </a:pPr>
              <a:r>
                <a:rPr lang="en-US" sz="2537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Effettua lo swap di alcuni valori che sono  allocati in memoria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671710" y="9497850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5"/>
                </a:lnTo>
                <a:lnTo>
                  <a:pt x="0" y="625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9645209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7772600" y="-3280444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7387" y="1366347"/>
            <a:ext cx="10220089" cy="2029623"/>
          </a:xfrm>
          <a:custGeom>
            <a:avLst/>
            <a:gdLst/>
            <a:ahLst/>
            <a:cxnLst/>
            <a:rect r="r" b="b" t="t" l="l"/>
            <a:pathLst>
              <a:path h="2029623" w="10220089">
                <a:moveTo>
                  <a:pt x="0" y="0"/>
                </a:moveTo>
                <a:lnTo>
                  <a:pt x="10220089" y="0"/>
                </a:lnTo>
                <a:lnTo>
                  <a:pt x="10220089" y="2029624"/>
                </a:lnTo>
                <a:lnTo>
                  <a:pt x="0" y="20296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7387" y="3761734"/>
            <a:ext cx="396412" cy="592463"/>
          </a:xfrm>
          <a:custGeom>
            <a:avLst/>
            <a:gdLst/>
            <a:ahLst/>
            <a:cxnLst/>
            <a:rect r="r" b="b" t="t" l="l"/>
            <a:pathLst>
              <a:path h="592463" w="396412">
                <a:moveTo>
                  <a:pt x="0" y="0"/>
                </a:moveTo>
                <a:lnTo>
                  <a:pt x="396412" y="0"/>
                </a:lnTo>
                <a:lnTo>
                  <a:pt x="396412" y="592463"/>
                </a:lnTo>
                <a:lnTo>
                  <a:pt x="0" y="5924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220367" y="4511034"/>
            <a:ext cx="0" cy="12647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95593" y="5775795"/>
            <a:ext cx="9449548" cy="1102680"/>
          </a:xfrm>
          <a:custGeom>
            <a:avLst/>
            <a:gdLst/>
            <a:ahLst/>
            <a:cxnLst/>
            <a:rect r="r" b="b" t="t" l="l"/>
            <a:pathLst>
              <a:path h="1102680" w="9449548">
                <a:moveTo>
                  <a:pt x="0" y="0"/>
                </a:moveTo>
                <a:lnTo>
                  <a:pt x="9449548" y="0"/>
                </a:lnTo>
                <a:lnTo>
                  <a:pt x="9449548" y="1102680"/>
                </a:lnTo>
                <a:lnTo>
                  <a:pt x="0" y="11026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336938" y="5890253"/>
            <a:ext cx="7555750" cy="873765"/>
            <a:chOff x="0" y="0"/>
            <a:chExt cx="10074334" cy="11650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5019" cy="1165019"/>
            </a:xfrm>
            <a:custGeom>
              <a:avLst/>
              <a:gdLst/>
              <a:ahLst/>
              <a:cxnLst/>
              <a:rect r="r" b="b" t="t" l="l"/>
              <a:pathLst>
                <a:path h="1165019" w="1165019">
                  <a:moveTo>
                    <a:pt x="0" y="0"/>
                  </a:moveTo>
                  <a:lnTo>
                    <a:pt x="1165019" y="0"/>
                  </a:lnTo>
                  <a:lnTo>
                    <a:pt x="1165019" y="1165019"/>
                  </a:lnTo>
                  <a:lnTo>
                    <a:pt x="0" y="116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582510" y="175478"/>
              <a:ext cx="9491824" cy="989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La condizione alla 1° iterazione è sempre falsa e quindi ricade nelle istruzioni relative all’else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220367" y="6878475"/>
            <a:ext cx="4468" cy="10156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1425112" y="8094321"/>
            <a:ext cx="7118868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Step-by-Step il debugger arriva ad un’istruzione assembly definita come : </a:t>
            </a:r>
          </a:p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“</a:t>
            </a:r>
            <a:r>
              <a:rPr lang="en-US" b="true" sz="2499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CALL RAX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57898" y="8122896"/>
            <a:ext cx="396412" cy="592463"/>
          </a:xfrm>
          <a:custGeom>
            <a:avLst/>
            <a:gdLst/>
            <a:ahLst/>
            <a:cxnLst/>
            <a:rect r="r" b="b" t="t" l="l"/>
            <a:pathLst>
              <a:path h="592463" w="396412">
                <a:moveTo>
                  <a:pt x="0" y="0"/>
                </a:moveTo>
                <a:lnTo>
                  <a:pt x="396412" y="0"/>
                </a:lnTo>
                <a:lnTo>
                  <a:pt x="396412" y="592463"/>
                </a:lnTo>
                <a:lnTo>
                  <a:pt x="0" y="5924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8905632" y="8715359"/>
            <a:ext cx="143130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2648118" y="1217895"/>
            <a:ext cx="2480540" cy="3462683"/>
          </a:xfrm>
          <a:custGeom>
            <a:avLst/>
            <a:gdLst/>
            <a:ahLst/>
            <a:cxnLst/>
            <a:rect r="r" b="b" t="t" l="l"/>
            <a:pathLst>
              <a:path h="3462683" w="2480540">
                <a:moveTo>
                  <a:pt x="0" y="0"/>
                </a:moveTo>
                <a:lnTo>
                  <a:pt x="2480540" y="0"/>
                </a:lnTo>
                <a:lnTo>
                  <a:pt x="2480540" y="3462683"/>
                </a:lnTo>
                <a:lnTo>
                  <a:pt x="0" y="3462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336938" y="8122896"/>
            <a:ext cx="819159" cy="913870"/>
          </a:xfrm>
          <a:custGeom>
            <a:avLst/>
            <a:gdLst/>
            <a:ahLst/>
            <a:cxnLst/>
            <a:rect r="r" b="b" t="t" l="l"/>
            <a:pathLst>
              <a:path h="913870" w="819159">
                <a:moveTo>
                  <a:pt x="0" y="0"/>
                </a:moveTo>
                <a:lnTo>
                  <a:pt x="819160" y="0"/>
                </a:lnTo>
                <a:lnTo>
                  <a:pt x="819160" y="913870"/>
                </a:lnTo>
                <a:lnTo>
                  <a:pt x="0" y="9138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1343" y="3771259"/>
            <a:ext cx="7853954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Attraverso il debugging e i vari input immessi avevamo notato che il codice si fermava in una di queste istruzioni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7387" y="395214"/>
            <a:ext cx="1115257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call rax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56098" y="7978759"/>
            <a:ext cx="7118868" cy="148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Le istruzioni con l’</a:t>
            </a:r>
            <a:r>
              <a:rPr lang="en-US" b="true" sz="2499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OP code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“</a:t>
            </a:r>
            <a:r>
              <a:rPr lang="en-US" b="true" sz="2499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CALL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in assembly spesso servono a chiamare delle funzioni e metterle nello stack e il registro RAX contiene l’indirizzo di dove viene definita quella funzione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671710" y="9497850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5"/>
                </a:lnTo>
                <a:lnTo>
                  <a:pt x="0" y="625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9645209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7772600" y="-3280444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7387" y="1637764"/>
            <a:ext cx="8157886" cy="1043014"/>
          </a:xfrm>
          <a:custGeom>
            <a:avLst/>
            <a:gdLst/>
            <a:ahLst/>
            <a:cxnLst/>
            <a:rect r="r" b="b" t="t" l="l"/>
            <a:pathLst>
              <a:path h="1043014" w="8157886">
                <a:moveTo>
                  <a:pt x="0" y="0"/>
                </a:moveTo>
                <a:lnTo>
                  <a:pt x="8157886" y="0"/>
                </a:lnTo>
                <a:lnTo>
                  <a:pt x="8157886" y="1043014"/>
                </a:lnTo>
                <a:lnTo>
                  <a:pt x="0" y="1043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981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278" y="3502911"/>
            <a:ext cx="9857573" cy="4096706"/>
          </a:xfrm>
          <a:custGeom>
            <a:avLst/>
            <a:gdLst/>
            <a:ahLst/>
            <a:cxnLst/>
            <a:rect r="r" b="b" t="t" l="l"/>
            <a:pathLst>
              <a:path h="4096706" w="9857573">
                <a:moveTo>
                  <a:pt x="0" y="0"/>
                </a:moveTo>
                <a:lnTo>
                  <a:pt x="9857572" y="0"/>
                </a:lnTo>
                <a:lnTo>
                  <a:pt x="9857572" y="4096706"/>
                </a:lnTo>
                <a:lnTo>
                  <a:pt x="0" y="40967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464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71768" y="3436392"/>
            <a:ext cx="7552335" cy="4163225"/>
          </a:xfrm>
          <a:custGeom>
            <a:avLst/>
            <a:gdLst/>
            <a:ahLst/>
            <a:cxnLst/>
            <a:rect r="r" b="b" t="t" l="l"/>
            <a:pathLst>
              <a:path h="4163225" w="7552335">
                <a:moveTo>
                  <a:pt x="0" y="0"/>
                </a:moveTo>
                <a:lnTo>
                  <a:pt x="7552335" y="0"/>
                </a:lnTo>
                <a:lnTo>
                  <a:pt x="7552335" y="4163225"/>
                </a:lnTo>
                <a:lnTo>
                  <a:pt x="0" y="41632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30200" y="7932992"/>
            <a:ext cx="819159" cy="913870"/>
          </a:xfrm>
          <a:custGeom>
            <a:avLst/>
            <a:gdLst/>
            <a:ahLst/>
            <a:cxnLst/>
            <a:rect r="r" b="b" t="t" l="l"/>
            <a:pathLst>
              <a:path h="913870" w="819159">
                <a:moveTo>
                  <a:pt x="0" y="0"/>
                </a:moveTo>
                <a:lnTo>
                  <a:pt x="819160" y="0"/>
                </a:lnTo>
                <a:lnTo>
                  <a:pt x="819160" y="913870"/>
                </a:lnTo>
                <a:lnTo>
                  <a:pt x="0" y="9138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00335" y="8036445"/>
            <a:ext cx="819159" cy="913870"/>
          </a:xfrm>
          <a:custGeom>
            <a:avLst/>
            <a:gdLst/>
            <a:ahLst/>
            <a:cxnLst/>
            <a:rect r="r" b="b" t="t" l="l"/>
            <a:pathLst>
              <a:path h="913870" w="819159">
                <a:moveTo>
                  <a:pt x="0" y="0"/>
                </a:moveTo>
                <a:lnTo>
                  <a:pt x="819160" y="0"/>
                </a:lnTo>
                <a:lnTo>
                  <a:pt x="819160" y="913869"/>
                </a:lnTo>
                <a:lnTo>
                  <a:pt x="0" y="91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7387" y="395214"/>
            <a:ext cx="1115257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Call Rax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54842" y="1931624"/>
            <a:ext cx="687859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Eseguiamo lo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Step-In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con il debugger  e...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97256" y="7942517"/>
            <a:ext cx="10250679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Attraverso le precedenti analisi, notiamo che le due immagini mostrano istruzioni identiche, quindi vuol dire che abbiamo trovato il codice che era stato esplorato con la </a:t>
            </a:r>
            <a:r>
              <a:rPr lang="en-US" b="true" sz="24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memcpy()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278" y="3047616"/>
            <a:ext cx="1115257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function - call rax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71768" y="3014357"/>
            <a:ext cx="1115257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memcpy - section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45699" y="9497850"/>
            <a:ext cx="519660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“Ci manca ancora qualcosa...”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826091"/>
            <a:ext cx="4819966" cy="5226083"/>
          </a:xfrm>
          <a:custGeom>
            <a:avLst/>
            <a:gdLst/>
            <a:ahLst/>
            <a:cxnLst/>
            <a:rect r="r" b="b" t="t" l="l"/>
            <a:pathLst>
              <a:path h="5226083" w="4819966">
                <a:moveTo>
                  <a:pt x="0" y="0"/>
                </a:moveTo>
                <a:lnTo>
                  <a:pt x="4819966" y="0"/>
                </a:lnTo>
                <a:lnTo>
                  <a:pt x="4819966" y="5226083"/>
                </a:lnTo>
                <a:lnTo>
                  <a:pt x="0" y="5226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93610" y="7566524"/>
            <a:ext cx="10500780" cy="2265958"/>
          </a:xfrm>
          <a:custGeom>
            <a:avLst/>
            <a:gdLst/>
            <a:ahLst/>
            <a:cxnLst/>
            <a:rect r="r" b="b" t="t" l="l"/>
            <a:pathLst>
              <a:path h="2265958" w="10500780">
                <a:moveTo>
                  <a:pt x="0" y="0"/>
                </a:moveTo>
                <a:lnTo>
                  <a:pt x="10500780" y="0"/>
                </a:lnTo>
                <a:lnTo>
                  <a:pt x="10500780" y="2265958"/>
                </a:lnTo>
                <a:lnTo>
                  <a:pt x="0" y="2265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79661" y="4891483"/>
            <a:ext cx="894744" cy="998193"/>
          </a:xfrm>
          <a:custGeom>
            <a:avLst/>
            <a:gdLst/>
            <a:ahLst/>
            <a:cxnLst/>
            <a:rect r="r" b="b" t="t" l="l"/>
            <a:pathLst>
              <a:path h="998193" w="894744">
                <a:moveTo>
                  <a:pt x="0" y="0"/>
                </a:moveTo>
                <a:lnTo>
                  <a:pt x="894745" y="0"/>
                </a:lnTo>
                <a:lnTo>
                  <a:pt x="894745" y="998193"/>
                </a:lnTo>
                <a:lnTo>
                  <a:pt x="0" y="9981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74406" y="4743549"/>
            <a:ext cx="7565946" cy="179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RDI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</a:t>
            </a:r>
            <a:r>
              <a:rPr lang="en-US" b="true" sz="29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( Register Data Input ) 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Tale registro conteneva l’indirizzo esadecimale 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 puntava in memoria ad uno dei caratteri 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 avevamo passato come input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387" y="282575"/>
            <a:ext cx="1115257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Analyze Registers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5671" y="1199748"/>
            <a:ext cx="1533100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Per ogni istruzione della funzione “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call rax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”decidiamo di dare uno sguardo ai valori dei registri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042949" y="2013684"/>
            <a:ext cx="7959397" cy="2367915"/>
            <a:chOff x="0" y="0"/>
            <a:chExt cx="10612530" cy="315722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10612530" cy="1800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Nel momento in cui arriviamo all’interno della </a:t>
              </a:r>
              <a:r>
                <a:rPr lang="en-US" b="true" sz="2999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call rax, </a:t>
              </a:r>
              <a:r>
                <a:rPr lang="en-US" sz="29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verifichiamo tutti i valori che sono all’interno dei registri e che sono diversi da </a:t>
              </a:r>
              <a:r>
                <a:rPr lang="en-US" b="true" sz="2999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0x0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68484" y="1953260"/>
              <a:ext cx="7675562" cy="1203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39"/>
                </a:lnSpc>
              </a:pPr>
              <a:r>
                <a:rPr lang="en-US" sz="29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Vi è un registro che ha un indirizzo </a:t>
              </a:r>
            </a:p>
            <a:p>
              <a:pPr algn="ctr">
                <a:lnSpc>
                  <a:spcPts val="353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che punta ad un valore particolare:  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3438683" y="6736674"/>
            <a:ext cx="10139360" cy="1657642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5053312" y="4891483"/>
            <a:ext cx="894744" cy="998193"/>
          </a:xfrm>
          <a:custGeom>
            <a:avLst/>
            <a:gdLst/>
            <a:ahLst/>
            <a:cxnLst/>
            <a:rect r="r" b="b" t="t" l="l"/>
            <a:pathLst>
              <a:path h="998193" w="894744">
                <a:moveTo>
                  <a:pt x="0" y="0"/>
                </a:moveTo>
                <a:lnTo>
                  <a:pt x="894745" y="0"/>
                </a:lnTo>
                <a:lnTo>
                  <a:pt x="894745" y="998193"/>
                </a:lnTo>
                <a:lnTo>
                  <a:pt x="0" y="9981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7387" y="1361299"/>
            <a:ext cx="563029" cy="841483"/>
          </a:xfrm>
          <a:custGeom>
            <a:avLst/>
            <a:gdLst/>
            <a:ahLst/>
            <a:cxnLst/>
            <a:rect r="r" b="b" t="t" l="l"/>
            <a:pathLst>
              <a:path h="841483" w="563029">
                <a:moveTo>
                  <a:pt x="0" y="0"/>
                </a:moveTo>
                <a:lnTo>
                  <a:pt x="563029" y="0"/>
                </a:lnTo>
                <a:lnTo>
                  <a:pt x="563029" y="841484"/>
                </a:lnTo>
                <a:lnTo>
                  <a:pt x="0" y="8414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5671" y="3046665"/>
            <a:ext cx="563029" cy="841483"/>
          </a:xfrm>
          <a:custGeom>
            <a:avLst/>
            <a:gdLst/>
            <a:ahLst/>
            <a:cxnLst/>
            <a:rect r="r" b="b" t="t" l="l"/>
            <a:pathLst>
              <a:path h="841483" w="563029">
                <a:moveTo>
                  <a:pt x="0" y="0"/>
                </a:moveTo>
                <a:lnTo>
                  <a:pt x="563029" y="0"/>
                </a:lnTo>
                <a:lnTo>
                  <a:pt x="563029" y="841483"/>
                </a:lnTo>
                <a:lnTo>
                  <a:pt x="0" y="8414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69534" y="2767220"/>
            <a:ext cx="9144096" cy="1461861"/>
          </a:xfrm>
          <a:custGeom>
            <a:avLst/>
            <a:gdLst/>
            <a:ahLst/>
            <a:cxnLst/>
            <a:rect r="r" b="b" t="t" l="l"/>
            <a:pathLst>
              <a:path h="1461861" w="9144096">
                <a:moveTo>
                  <a:pt x="0" y="0"/>
                </a:moveTo>
                <a:lnTo>
                  <a:pt x="9144096" y="0"/>
                </a:lnTo>
                <a:lnTo>
                  <a:pt x="9144096" y="1461860"/>
                </a:lnTo>
                <a:lnTo>
                  <a:pt x="0" y="14618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4619" b="-205247"/>
            </a:stretch>
          </a:blipFill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5313630" y="4229080"/>
            <a:ext cx="1010538" cy="1148339"/>
          </a:xfrm>
          <a:prstGeom prst="rect">
            <a:avLst/>
          </a:prstGeom>
        </p:spPr>
      </p:pic>
      <p:sp>
        <p:nvSpPr>
          <p:cNvPr name="Freeform 9" id="9"/>
          <p:cNvSpPr/>
          <p:nvPr/>
        </p:nvSpPr>
        <p:spPr>
          <a:xfrm flipH="false" flipV="false" rot="0">
            <a:off x="860416" y="7376839"/>
            <a:ext cx="7460013" cy="1657846"/>
          </a:xfrm>
          <a:custGeom>
            <a:avLst/>
            <a:gdLst/>
            <a:ahLst/>
            <a:cxnLst/>
            <a:rect r="r" b="b" t="t" l="l"/>
            <a:pathLst>
              <a:path h="1657846" w="7460013">
                <a:moveTo>
                  <a:pt x="0" y="0"/>
                </a:moveTo>
                <a:lnTo>
                  <a:pt x="7460013" y="0"/>
                </a:lnTo>
                <a:lnTo>
                  <a:pt x="7460013" y="1657847"/>
                </a:lnTo>
                <a:lnTo>
                  <a:pt x="0" y="16578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8484" t="-389026" r="0" b="-35797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7387" y="282575"/>
            <a:ext cx="13280656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Analyze compare values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361299"/>
            <a:ext cx="12929191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Dalla slide precedente abbiamo scoperto che tale funzione prende come input la posizione relativo al carattere contenuto all’interno del nostro input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Ma ci sono altre informazioni che possiamo sfruttare... 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046665"/>
            <a:ext cx="4657790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Guardiamo le altre 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istruzioni Assembly...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8902" y="4562455"/>
            <a:ext cx="6963607" cy="224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Notiamo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un’istruzione Assembly che effettua una comparazione con un valore esadecimale...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Sarà proprio il nostro input che verrà confrontato ?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24950" y="5666403"/>
            <a:ext cx="7745657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Il valore esadecimale di ‘</a:t>
            </a:r>
            <a:r>
              <a:rPr lang="en-US" sz="2999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A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’ corrisponde ad </a:t>
            </a:r>
            <a:r>
              <a:rPr lang="en-US" sz="2999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0x41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mentre il valore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 dovremmo confrontare è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0x43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 corrisponde a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‘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C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’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55293" y="8205762"/>
            <a:ext cx="6963607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Sostitusco il valore </a:t>
            </a:r>
            <a:r>
              <a:rPr lang="en-US" sz="2999">
                <a:solidFill>
                  <a:srgbClr val="731F7D"/>
                </a:solidFill>
                <a:latin typeface="Halant"/>
                <a:ea typeface="Halant"/>
                <a:cs typeface="Halant"/>
                <a:sym typeface="Halant"/>
              </a:rPr>
              <a:t>‘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A</a:t>
            </a:r>
            <a:r>
              <a:rPr lang="en-US" sz="2999">
                <a:solidFill>
                  <a:srgbClr val="731F7D"/>
                </a:solidFill>
                <a:latin typeface="Halant"/>
                <a:ea typeface="Halant"/>
                <a:cs typeface="Halant"/>
                <a:sym typeface="Halant"/>
              </a:rPr>
              <a:t>’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con il valore </a:t>
            </a:r>
            <a:r>
              <a:rPr lang="en-US" sz="2999">
                <a:solidFill>
                  <a:srgbClr val="731F7D"/>
                </a:solidFill>
                <a:latin typeface="Halant"/>
                <a:ea typeface="Halant"/>
                <a:cs typeface="Halant"/>
                <a:sym typeface="Halant"/>
              </a:rPr>
              <a:t>‘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C</a:t>
            </a:r>
            <a:r>
              <a:rPr lang="en-US" sz="2999">
                <a:solidFill>
                  <a:srgbClr val="731F7D"/>
                </a:solidFill>
                <a:latin typeface="Halant"/>
                <a:ea typeface="Halant"/>
                <a:cs typeface="Halant"/>
                <a:sym typeface="Halant"/>
              </a:rPr>
              <a:t>’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...</a:t>
            </a:r>
          </a:p>
        </p:txBody>
      </p:sp>
      <p:sp>
        <p:nvSpPr>
          <p:cNvPr name="AutoShape 16" id="16"/>
          <p:cNvSpPr/>
          <p:nvPr/>
        </p:nvSpPr>
        <p:spPr>
          <a:xfrm flipH="true" flipV="true">
            <a:off x="9777556" y="3757473"/>
            <a:ext cx="5164942" cy="3259575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9144000" y="3632912"/>
            <a:ext cx="4075032" cy="1889228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7387" y="2211267"/>
            <a:ext cx="16711057" cy="1469954"/>
          </a:xfrm>
          <a:custGeom>
            <a:avLst/>
            <a:gdLst/>
            <a:ahLst/>
            <a:cxnLst/>
            <a:rect r="r" b="b" t="t" l="l"/>
            <a:pathLst>
              <a:path h="1469954" w="16711057">
                <a:moveTo>
                  <a:pt x="0" y="0"/>
                </a:moveTo>
                <a:lnTo>
                  <a:pt x="16711058" y="0"/>
                </a:lnTo>
                <a:lnTo>
                  <a:pt x="16711058" y="1469955"/>
                </a:lnTo>
                <a:lnTo>
                  <a:pt x="0" y="14699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03401" y="4119372"/>
            <a:ext cx="9284599" cy="652444"/>
          </a:xfrm>
          <a:custGeom>
            <a:avLst/>
            <a:gdLst/>
            <a:ahLst/>
            <a:cxnLst/>
            <a:rect r="r" b="b" t="t" l="l"/>
            <a:pathLst>
              <a:path h="652444" w="9284599">
                <a:moveTo>
                  <a:pt x="0" y="0"/>
                </a:moveTo>
                <a:lnTo>
                  <a:pt x="9284599" y="0"/>
                </a:lnTo>
                <a:lnTo>
                  <a:pt x="9284599" y="652444"/>
                </a:lnTo>
                <a:lnTo>
                  <a:pt x="0" y="652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52" r="0" b="-82188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301" y="5760368"/>
            <a:ext cx="10096215" cy="1195170"/>
          </a:xfrm>
          <a:custGeom>
            <a:avLst/>
            <a:gdLst/>
            <a:ahLst/>
            <a:cxnLst/>
            <a:rect r="r" b="b" t="t" l="l"/>
            <a:pathLst>
              <a:path h="1195170" w="10096215">
                <a:moveTo>
                  <a:pt x="0" y="0"/>
                </a:moveTo>
                <a:lnTo>
                  <a:pt x="10096216" y="0"/>
                </a:lnTo>
                <a:lnTo>
                  <a:pt x="10096216" y="1195171"/>
                </a:lnTo>
                <a:lnTo>
                  <a:pt x="0" y="1195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6923" t="-25667" r="0" b="-10040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23138" y="8136639"/>
            <a:ext cx="10944520" cy="1426265"/>
          </a:xfrm>
          <a:custGeom>
            <a:avLst/>
            <a:gdLst/>
            <a:ahLst/>
            <a:cxnLst/>
            <a:rect r="r" b="b" t="t" l="l"/>
            <a:pathLst>
              <a:path h="1426265" w="10944520">
                <a:moveTo>
                  <a:pt x="0" y="0"/>
                </a:moveTo>
                <a:lnTo>
                  <a:pt x="10944520" y="0"/>
                </a:lnTo>
                <a:lnTo>
                  <a:pt x="10944520" y="1426265"/>
                </a:lnTo>
                <a:lnTo>
                  <a:pt x="0" y="14262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740" t="-51664" r="0" b="-5816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7387" y="282575"/>
            <a:ext cx="13280656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Build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7387" y="1317823"/>
            <a:ext cx="11336403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Procedendo con la seconda iterazione, i passi da seguire sono gli stessi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7259" y="3976497"/>
            <a:ext cx="7745657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Il valore esadecimale di ‘</a:t>
            </a:r>
            <a:r>
              <a:rPr lang="en-US" sz="2999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A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’ corrisponde ad </a:t>
            </a:r>
            <a:r>
              <a:rPr lang="en-US" sz="2999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0x41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mentre il valore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 dovremmo confrontare è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0x54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che corrisponde a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‘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T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’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5071409" y="3527508"/>
            <a:ext cx="3703197" cy="448989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" id="13"/>
          <p:cNvSpPr/>
          <p:nvPr/>
        </p:nvSpPr>
        <p:spPr>
          <a:xfrm flipV="true">
            <a:off x="7135257" y="3527508"/>
            <a:ext cx="2569957" cy="1508846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10447317" y="5604894"/>
            <a:ext cx="7840683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Esamino il  valore contenuto nel registro 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RDI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prima che avvenga la CMP, sostituisco il valore </a:t>
            </a:r>
            <a:r>
              <a:rPr lang="en-US" b="true" sz="29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‘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A’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con il valore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 </a:t>
            </a:r>
            <a:r>
              <a:rPr lang="en-US" b="true" sz="29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‘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T</a:t>
            </a:r>
            <a:r>
              <a:rPr lang="en-US" b="true" sz="29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’</a:t>
            </a:r>
          </a:p>
        </p:txBody>
      </p:sp>
      <p:sp>
        <p:nvSpPr>
          <p:cNvPr name="AutoShape 15" id="15"/>
          <p:cNvSpPr/>
          <p:nvPr/>
        </p:nvSpPr>
        <p:spPr>
          <a:xfrm flipH="true">
            <a:off x="12573784" y="6955539"/>
            <a:ext cx="3027047" cy="1656580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91104" y="9027023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479" y="3936431"/>
            <a:ext cx="7208390" cy="4092575"/>
            <a:chOff x="0" y="0"/>
            <a:chExt cx="9611187" cy="54567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0964" cy="1049757"/>
            </a:xfrm>
            <a:custGeom>
              <a:avLst/>
              <a:gdLst/>
              <a:ahLst/>
              <a:cxnLst/>
              <a:rect r="r" b="b" t="t" l="l"/>
              <a:pathLst>
                <a:path h="1049757" w="940964">
                  <a:moveTo>
                    <a:pt x="0" y="0"/>
                  </a:moveTo>
                  <a:lnTo>
                    <a:pt x="940964" y="0"/>
                  </a:lnTo>
                  <a:lnTo>
                    <a:pt x="940964" y="1049757"/>
                  </a:lnTo>
                  <a:lnTo>
                    <a:pt x="0" y="1049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940964" y="9525"/>
              <a:ext cx="7729259" cy="5447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2949"/>
                </a:lnSpc>
                <a:buAutoNum type="arabicPeriod" startAt="1"/>
              </a:pP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Si</a:t>
              </a: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 arriva alla “</a:t>
              </a:r>
              <a:r>
                <a:rPr lang="en-US" b="true" sz="2499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call rax</a:t>
              </a: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” </a:t>
              </a:r>
            </a:p>
            <a:p>
              <a:pPr algn="l" marL="539749" indent="-269875" lvl="1">
                <a:lnSpc>
                  <a:spcPts val="2949"/>
                </a:lnSpc>
                <a:buAutoNum type="arabicPeriod" startAt="1"/>
              </a:pP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Si fa lo “</a:t>
              </a:r>
              <a:r>
                <a:rPr lang="en-US" b="true" sz="2499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step-in</a:t>
              </a: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” con il debugger </a:t>
              </a:r>
            </a:p>
            <a:p>
              <a:pPr algn="l" marL="539749" indent="-269875" lvl="1">
                <a:lnSpc>
                  <a:spcPts val="2949"/>
                </a:lnSpc>
                <a:buAutoNum type="arabicPeriod" startAt="1"/>
              </a:pP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Si </a:t>
              </a:r>
              <a:r>
                <a:rPr lang="en-US" b="true" sz="2499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estrapola</a:t>
              </a: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 il valore esadecimale che deve essere confrontato con il carattere randomico che è stato scelto dalla stringa in input</a:t>
              </a:r>
            </a:p>
            <a:p>
              <a:pPr algn="l" marL="539749" indent="-269875" lvl="1">
                <a:lnSpc>
                  <a:spcPts val="2949"/>
                </a:lnSpc>
                <a:buAutoNum type="arabicPeriod" startAt="1"/>
              </a:pP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Si modifica l'input della stringa con il valore estrapolato dall’ operazione di confronto</a:t>
              </a:r>
            </a:p>
            <a:p>
              <a:pPr algn="l" marL="539749" indent="-269875" lvl="1">
                <a:lnSpc>
                  <a:spcPts val="2949"/>
                </a:lnSpc>
                <a:buAutoNum type="arabicPeriod" startAt="1"/>
              </a:pP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Si va avanti fino al prossimo breakpoint (“</a:t>
              </a:r>
              <a:r>
                <a:rPr lang="en-US" b="true" sz="2499">
                  <a:solidFill>
                    <a:srgbClr val="731F7D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call rax</a:t>
              </a:r>
              <a:r>
                <a:rPr lang="en-US" sz="2499">
                  <a:solidFill>
                    <a:srgbClr val="000000"/>
                  </a:solidFill>
                  <a:latin typeface="Halant"/>
                  <a:ea typeface="Halant"/>
                  <a:cs typeface="Halant"/>
                  <a:sym typeface="Halant"/>
                </a:rPr>
                <a:t>”)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8670223" y="0"/>
              <a:ext cx="940964" cy="1049757"/>
            </a:xfrm>
            <a:custGeom>
              <a:avLst/>
              <a:gdLst/>
              <a:ahLst/>
              <a:cxnLst/>
              <a:rect r="r" b="b" t="t" l="l"/>
              <a:pathLst>
                <a:path h="1049757" w="940964">
                  <a:moveTo>
                    <a:pt x="0" y="0"/>
                  </a:moveTo>
                  <a:lnTo>
                    <a:pt x="940964" y="0"/>
                  </a:lnTo>
                  <a:lnTo>
                    <a:pt x="940964" y="1049757"/>
                  </a:lnTo>
                  <a:lnTo>
                    <a:pt x="0" y="1049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407710" y="1321225"/>
            <a:ext cx="1316766" cy="1350645"/>
          </a:xfrm>
          <a:custGeom>
            <a:avLst/>
            <a:gdLst/>
            <a:ahLst/>
            <a:cxnLst/>
            <a:rect r="r" b="b" t="t" l="l"/>
            <a:pathLst>
              <a:path h="1350645" w="1316766">
                <a:moveTo>
                  <a:pt x="0" y="0"/>
                </a:moveTo>
                <a:lnTo>
                  <a:pt x="1316765" y="0"/>
                </a:lnTo>
                <a:lnTo>
                  <a:pt x="1316765" y="1350645"/>
                </a:lnTo>
                <a:lnTo>
                  <a:pt x="0" y="135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26973" y="1321225"/>
            <a:ext cx="1316766" cy="1350645"/>
          </a:xfrm>
          <a:custGeom>
            <a:avLst/>
            <a:gdLst/>
            <a:ahLst/>
            <a:cxnLst/>
            <a:rect r="r" b="b" t="t" l="l"/>
            <a:pathLst>
              <a:path h="1350645" w="1316766">
                <a:moveTo>
                  <a:pt x="0" y="0"/>
                </a:moveTo>
                <a:lnTo>
                  <a:pt x="1316766" y="0"/>
                </a:lnTo>
                <a:lnTo>
                  <a:pt x="1316766" y="1350645"/>
                </a:lnTo>
                <a:lnTo>
                  <a:pt x="0" y="135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2801966" y="3699662"/>
            <a:ext cx="0" cy="4329344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7605144" y="5809815"/>
            <a:ext cx="3415914" cy="28989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843098" y="4859800"/>
            <a:ext cx="5484516" cy="1900031"/>
          </a:xfrm>
          <a:custGeom>
            <a:avLst/>
            <a:gdLst/>
            <a:ahLst/>
            <a:cxnLst/>
            <a:rect r="r" b="b" t="t" l="l"/>
            <a:pathLst>
              <a:path h="1900031" w="5484516">
                <a:moveTo>
                  <a:pt x="0" y="0"/>
                </a:moveTo>
                <a:lnTo>
                  <a:pt x="5484516" y="0"/>
                </a:lnTo>
                <a:lnTo>
                  <a:pt x="5484516" y="1900031"/>
                </a:lnTo>
                <a:lnTo>
                  <a:pt x="0" y="19000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4485" t="0" r="-1329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61027" y="1321225"/>
            <a:ext cx="7565946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Esiste un possibile pattern?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Halant Bold"/>
                <a:ea typeface="Halant Bold"/>
                <a:cs typeface="Halant Bold"/>
                <a:sym typeface="Halant Bold"/>
              </a:rPr>
              <a:t>Continuiamo con questi passi fino a quando non si presenta un errore!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7387" y="282575"/>
            <a:ext cx="10224915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Analisi Dinamica - Build 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5693" y="8512935"/>
            <a:ext cx="2489388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“</a:t>
            </a:r>
            <a:r>
              <a:rPr lang="en-US" b="true" sz="24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Iteriamo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per </a:t>
            </a:r>
            <a:r>
              <a:rPr lang="en-US" b="true" sz="24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23</a:t>
            </a:r>
            <a:r>
              <a:rPr lang="en-US" sz="24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volte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1603" y="4222699"/>
            <a:ext cx="2427507" cy="59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9"/>
              </a:lnSpc>
              <a:spcBef>
                <a:spcPct val="0"/>
              </a:spcBef>
            </a:pPr>
            <a:r>
              <a:rPr lang="en-US" b="true" sz="3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! FLAG !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673226" y="3699662"/>
            <a:ext cx="698376" cy="1027024"/>
          </a:xfrm>
          <a:custGeom>
            <a:avLst/>
            <a:gdLst/>
            <a:ahLst/>
            <a:cxnLst/>
            <a:rect r="r" b="b" t="t" l="l"/>
            <a:pathLst>
              <a:path h="1027024" w="698376">
                <a:moveTo>
                  <a:pt x="0" y="0"/>
                </a:moveTo>
                <a:lnTo>
                  <a:pt x="698377" y="0"/>
                </a:lnTo>
                <a:lnTo>
                  <a:pt x="698377" y="1027025"/>
                </a:lnTo>
                <a:lnTo>
                  <a:pt x="0" y="1027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799109" y="3699662"/>
            <a:ext cx="698376" cy="1027024"/>
          </a:xfrm>
          <a:custGeom>
            <a:avLst/>
            <a:gdLst/>
            <a:ahLst/>
            <a:cxnLst/>
            <a:rect r="r" b="b" t="t" l="l"/>
            <a:pathLst>
              <a:path h="1027024" w="698376">
                <a:moveTo>
                  <a:pt x="0" y="0"/>
                </a:moveTo>
                <a:lnTo>
                  <a:pt x="698377" y="0"/>
                </a:lnTo>
                <a:lnTo>
                  <a:pt x="698377" y="1027025"/>
                </a:lnTo>
                <a:lnTo>
                  <a:pt x="0" y="1027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655498" y="7664706"/>
            <a:ext cx="7052990" cy="494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6"/>
              </a:lnSpc>
              <a:spcBef>
                <a:spcPct val="0"/>
              </a:spcBef>
            </a:pPr>
            <a:r>
              <a:rPr lang="en-US" sz="325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“</a:t>
            </a:r>
            <a:r>
              <a:rPr lang="en-US" b="true" sz="325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Automatizziamo la soluzione...”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9017" y="1454996"/>
            <a:ext cx="5887632" cy="7895035"/>
          </a:xfrm>
          <a:custGeom>
            <a:avLst/>
            <a:gdLst/>
            <a:ahLst/>
            <a:cxnLst/>
            <a:rect r="r" b="b" t="t" l="l"/>
            <a:pathLst>
              <a:path h="7895035" w="5887632">
                <a:moveTo>
                  <a:pt x="0" y="0"/>
                </a:moveTo>
                <a:lnTo>
                  <a:pt x="5887633" y="0"/>
                </a:lnTo>
                <a:lnTo>
                  <a:pt x="5887633" y="7895035"/>
                </a:lnTo>
                <a:lnTo>
                  <a:pt x="0" y="7895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12781" y="3262163"/>
            <a:ext cx="5734846" cy="1232992"/>
          </a:xfrm>
          <a:custGeom>
            <a:avLst/>
            <a:gdLst/>
            <a:ahLst/>
            <a:cxnLst/>
            <a:rect r="r" b="b" t="t" l="l"/>
            <a:pathLst>
              <a:path h="1232992" w="5734846">
                <a:moveTo>
                  <a:pt x="0" y="0"/>
                </a:moveTo>
                <a:lnTo>
                  <a:pt x="5734846" y="0"/>
                </a:lnTo>
                <a:lnTo>
                  <a:pt x="5734846" y="1232991"/>
                </a:lnTo>
                <a:lnTo>
                  <a:pt x="0" y="1232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3582833" y="3262163"/>
            <a:ext cx="5429947" cy="616496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" id="8"/>
          <p:cNvSpPr txBox="true"/>
          <p:nvPr/>
        </p:nvSpPr>
        <p:spPr>
          <a:xfrm rot="0">
            <a:off x="7555350" y="784131"/>
            <a:ext cx="8649708" cy="224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sz="2999">
                <a:solidFill>
                  <a:srgbClr val="731F7D"/>
                </a:solidFill>
                <a:latin typeface="Halant"/>
                <a:ea typeface="Halant"/>
                <a:cs typeface="Halant"/>
                <a:sym typeface="Halant"/>
              </a:rPr>
              <a:t>Fasi preliminari:</a:t>
            </a:r>
          </a:p>
          <a:p>
            <a:pPr algn="l" marL="647695" indent="-323848" lvl="1">
              <a:lnSpc>
                <a:spcPts val="353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Controllo della presenza del binario</a:t>
            </a:r>
          </a:p>
          <a:p>
            <a:pPr algn="l" marL="647695" indent="-323848" lvl="1">
              <a:lnSpc>
                <a:spcPts val="353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Disabilitazione della randomizzazione degli indirizzi ( 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ASLR protection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)  </a:t>
            </a:r>
          </a:p>
          <a:p>
            <a:pPr algn="l">
              <a:lnSpc>
                <a:spcPts val="3539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3027079" y="784131"/>
            <a:ext cx="8853125" cy="1122997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841890" y="6306436"/>
            <a:ext cx="6076628" cy="2228653"/>
          </a:xfrm>
          <a:custGeom>
            <a:avLst/>
            <a:gdLst/>
            <a:ahLst/>
            <a:cxnLst/>
            <a:rect r="r" b="b" t="t" l="l"/>
            <a:pathLst>
              <a:path h="2228653" w="6076628">
                <a:moveTo>
                  <a:pt x="0" y="0"/>
                </a:moveTo>
                <a:lnTo>
                  <a:pt x="6076627" y="0"/>
                </a:lnTo>
                <a:lnTo>
                  <a:pt x="6076627" y="2228653"/>
                </a:lnTo>
                <a:lnTo>
                  <a:pt x="0" y="22286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21867" y="4727191"/>
            <a:ext cx="8316674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Dopo aver preso la stringa che genererá come input andremo ad aprire il binario in debug mode mediante il comando 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“ood”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815658" y="5035083"/>
            <a:ext cx="4026232" cy="2385680"/>
          </a:xfrm>
          <a:prstGeom prst="line">
            <a:avLst/>
          </a:prstGeom>
          <a:ln cap="flat" w="38100">
            <a:solidFill>
              <a:srgbClr val="DB1935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378112" y="282575"/>
            <a:ext cx="6916332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Build Script - 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68436" y="9079857"/>
            <a:ext cx="341995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“Si prosegue con...”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32356" y="9384335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5"/>
                </a:lnTo>
                <a:lnTo>
                  <a:pt x="0" y="6254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3493" y="1188775"/>
            <a:ext cx="5910312" cy="1393120"/>
          </a:xfrm>
          <a:custGeom>
            <a:avLst/>
            <a:gdLst/>
            <a:ahLst/>
            <a:cxnLst/>
            <a:rect r="r" b="b" t="t" l="l"/>
            <a:pathLst>
              <a:path h="1393120" w="5910312">
                <a:moveTo>
                  <a:pt x="0" y="0"/>
                </a:moveTo>
                <a:lnTo>
                  <a:pt x="5910312" y="0"/>
                </a:lnTo>
                <a:lnTo>
                  <a:pt x="5910312" y="1393120"/>
                </a:lnTo>
                <a:lnTo>
                  <a:pt x="0" y="13931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9702" b="-49905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20364" y="1210012"/>
            <a:ext cx="6734872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“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aa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lo si usa 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per effettuare l'analisi completa e statica dell’intero codice binario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4000" y="2997315"/>
            <a:ext cx="6289297" cy="110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sz="2443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Effettua la risoluzione dei simboli e delle funzioni staticamente e prosegue fino al </a:t>
            </a:r>
            <a:r>
              <a:rPr lang="en-US" b="true" sz="2443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“main”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85618" y="4751064"/>
            <a:ext cx="7171232" cy="4770943"/>
          </a:xfrm>
          <a:custGeom>
            <a:avLst/>
            <a:gdLst/>
            <a:ahLst/>
            <a:cxnLst/>
            <a:rect r="r" b="b" t="t" l="l"/>
            <a:pathLst>
              <a:path h="4770943" w="7171232">
                <a:moveTo>
                  <a:pt x="0" y="0"/>
                </a:moveTo>
                <a:lnTo>
                  <a:pt x="7171232" y="0"/>
                </a:lnTo>
                <a:lnTo>
                  <a:pt x="7171232" y="4770943"/>
                </a:lnTo>
                <a:lnTo>
                  <a:pt x="0" y="4770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0063" y="282575"/>
            <a:ext cx="7181022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Build Script - Solution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85618" y="2997315"/>
            <a:ext cx="5910312" cy="1099979"/>
          </a:xfrm>
          <a:custGeom>
            <a:avLst/>
            <a:gdLst/>
            <a:ahLst/>
            <a:cxnLst/>
            <a:rect r="r" b="b" t="t" l="l"/>
            <a:pathLst>
              <a:path h="1099979" w="5910312">
                <a:moveTo>
                  <a:pt x="0" y="0"/>
                </a:moveTo>
                <a:lnTo>
                  <a:pt x="5910312" y="0"/>
                </a:lnTo>
                <a:lnTo>
                  <a:pt x="5910312" y="1099979"/>
                </a:lnTo>
                <a:lnTo>
                  <a:pt x="0" y="1099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9327" r="-49702" b="-51937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4000" y="4671683"/>
            <a:ext cx="8690000" cy="2630416"/>
          </a:xfrm>
          <a:custGeom>
            <a:avLst/>
            <a:gdLst/>
            <a:ahLst/>
            <a:cxnLst/>
            <a:rect r="r" b="b" t="t" l="l"/>
            <a:pathLst>
              <a:path h="2630416" w="8690000">
                <a:moveTo>
                  <a:pt x="0" y="0"/>
                </a:moveTo>
                <a:lnTo>
                  <a:pt x="8690000" y="0"/>
                </a:lnTo>
                <a:lnTo>
                  <a:pt x="8690000" y="2630417"/>
                </a:lnTo>
                <a:lnTo>
                  <a:pt x="0" y="2630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2621" r="0" b="-9898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3493" y="7736832"/>
            <a:ext cx="8037906" cy="179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Con il comando “</a:t>
            </a:r>
            <a:r>
              <a:rPr lang="en-US" sz="2999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db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si settano i breakpoint,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però prima di settarli si vanno a cercare le istruzioni assembly con “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call RAX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all’interno del main 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6364312" y="4888736"/>
            <a:ext cx="4021306" cy="1703253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4" id="14"/>
          <p:cNvSpPr/>
          <p:nvPr/>
        </p:nvSpPr>
        <p:spPr>
          <a:xfrm flipV="true">
            <a:off x="6743297" y="3547304"/>
            <a:ext cx="3642321" cy="143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836950" y="9362543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2" y="0"/>
                </a:lnTo>
                <a:lnTo>
                  <a:pt x="2546292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59368" y="2062952"/>
            <a:ext cx="7311247" cy="4231384"/>
          </a:xfrm>
          <a:custGeom>
            <a:avLst/>
            <a:gdLst/>
            <a:ahLst/>
            <a:cxnLst/>
            <a:rect r="r" b="b" t="t" l="l"/>
            <a:pathLst>
              <a:path h="4231384" w="7311247">
                <a:moveTo>
                  <a:pt x="0" y="0"/>
                </a:moveTo>
                <a:lnTo>
                  <a:pt x="7311247" y="0"/>
                </a:lnTo>
                <a:lnTo>
                  <a:pt x="7311247" y="4231385"/>
                </a:lnTo>
                <a:lnTo>
                  <a:pt x="0" y="4231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3503" y="1787239"/>
            <a:ext cx="8106458" cy="2391405"/>
          </a:xfrm>
          <a:custGeom>
            <a:avLst/>
            <a:gdLst/>
            <a:ahLst/>
            <a:cxnLst/>
            <a:rect r="r" b="b" t="t" l="l"/>
            <a:pathLst>
              <a:path h="2391405" w="8106458">
                <a:moveTo>
                  <a:pt x="0" y="0"/>
                </a:moveTo>
                <a:lnTo>
                  <a:pt x="8106459" y="0"/>
                </a:lnTo>
                <a:lnTo>
                  <a:pt x="8106459" y="2391406"/>
                </a:lnTo>
                <a:lnTo>
                  <a:pt x="0" y="23914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7350" y="4956445"/>
            <a:ext cx="677517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Controlla che vengono settati breakpoint.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7779784" y="2128928"/>
            <a:ext cx="2679583" cy="2827517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53503" y="6682073"/>
            <a:ext cx="10447131" cy="2873669"/>
          </a:xfrm>
          <a:custGeom>
            <a:avLst/>
            <a:gdLst/>
            <a:ahLst/>
            <a:cxnLst/>
            <a:rect r="r" b="b" t="t" l="l"/>
            <a:pathLst>
              <a:path h="2873669" w="10447131">
                <a:moveTo>
                  <a:pt x="0" y="0"/>
                </a:moveTo>
                <a:lnTo>
                  <a:pt x="10447132" y="0"/>
                </a:lnTo>
                <a:lnTo>
                  <a:pt x="10447132" y="2873669"/>
                </a:lnTo>
                <a:lnTo>
                  <a:pt x="0" y="28736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7387" y="282575"/>
            <a:ext cx="1115257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Build Script - Solution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0416" y="1180322"/>
            <a:ext cx="1411033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Ultime due ma non meno importanti funzioni che si troviamo nella funzione sono: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40506" y="5411740"/>
            <a:ext cx="533245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 prosegue con 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“Find_flags()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49965" y="7667423"/>
            <a:ext cx="6549670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Si salva l’ indirizzo della prossima istruzione da eseguire ( “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stripped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)</a:t>
            </a:r>
          </a:p>
        </p:txBody>
      </p:sp>
      <p:sp>
        <p:nvSpPr>
          <p:cNvPr name="AutoShape 14" id="14"/>
          <p:cNvSpPr/>
          <p:nvPr/>
        </p:nvSpPr>
        <p:spPr>
          <a:xfrm flipH="true" flipV="true">
            <a:off x="7745581" y="7878427"/>
            <a:ext cx="3704384" cy="240481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836950" y="8803453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2" y="0"/>
                </a:lnTo>
                <a:lnTo>
                  <a:pt x="2546292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7534" y="2164604"/>
            <a:ext cx="8197938" cy="2112783"/>
          </a:xfrm>
          <a:custGeom>
            <a:avLst/>
            <a:gdLst/>
            <a:ahLst/>
            <a:cxnLst/>
            <a:rect r="r" b="b" t="t" l="l"/>
            <a:pathLst>
              <a:path h="2112783" w="8197938">
                <a:moveTo>
                  <a:pt x="0" y="0"/>
                </a:moveTo>
                <a:lnTo>
                  <a:pt x="8197939" y="0"/>
                </a:lnTo>
                <a:lnTo>
                  <a:pt x="8197939" y="2112783"/>
                </a:lnTo>
                <a:lnTo>
                  <a:pt x="0" y="2112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3749" b="-37745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7534" y="4886787"/>
            <a:ext cx="9038233" cy="4724079"/>
          </a:xfrm>
          <a:custGeom>
            <a:avLst/>
            <a:gdLst/>
            <a:ahLst/>
            <a:cxnLst/>
            <a:rect r="r" b="b" t="t" l="l"/>
            <a:pathLst>
              <a:path h="4724079" w="9038233">
                <a:moveTo>
                  <a:pt x="0" y="0"/>
                </a:moveTo>
                <a:lnTo>
                  <a:pt x="9038233" y="0"/>
                </a:lnTo>
                <a:lnTo>
                  <a:pt x="9038233" y="4724079"/>
                </a:lnTo>
                <a:lnTo>
                  <a:pt x="0" y="4724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6016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63476" y="2164604"/>
            <a:ext cx="5684581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Un’ istruzione interessante usata è: “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pd 4 @ rdi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7427367" y="2616089"/>
            <a:ext cx="2836109" cy="5800455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305036" y="4810587"/>
            <a:ext cx="7532710" cy="2688633"/>
          </a:xfrm>
          <a:custGeom>
            <a:avLst/>
            <a:gdLst/>
            <a:ahLst/>
            <a:cxnLst/>
            <a:rect r="r" b="b" t="t" l="l"/>
            <a:pathLst>
              <a:path h="2688633" w="7532710">
                <a:moveTo>
                  <a:pt x="0" y="0"/>
                </a:moveTo>
                <a:lnTo>
                  <a:pt x="7532710" y="0"/>
                </a:lnTo>
                <a:lnTo>
                  <a:pt x="7532710" y="2688633"/>
                </a:lnTo>
                <a:lnTo>
                  <a:pt x="0" y="26886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7387" y="282575"/>
            <a:ext cx="1115257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Build Script - Solution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63476" y="3130792"/>
            <a:ext cx="5684581" cy="90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Stampa le prime 4 istruzioni della 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“call rax”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11180" y="7983352"/>
            <a:ext cx="5920423" cy="155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  <a:spcBef>
                <a:spcPct val="0"/>
              </a:spcBef>
            </a:pPr>
            <a:r>
              <a:rPr lang="en-US" sz="2596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P</a:t>
            </a:r>
            <a:r>
              <a:rPr lang="en-US" sz="2596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rinta il valore esadecimale puntato dall'indirizzo del registro </a:t>
            </a:r>
            <a:r>
              <a:rPr lang="en-US" b="true" sz="2596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“rdi”</a:t>
            </a:r>
            <a:r>
              <a:rPr lang="en-US" sz="2596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 </a:t>
            </a:r>
          </a:p>
          <a:p>
            <a:pPr algn="ctr">
              <a:lnSpc>
                <a:spcPts val="3064"/>
              </a:lnSpc>
              <a:spcBef>
                <a:spcPct val="0"/>
              </a:spcBef>
            </a:pPr>
            <a:r>
              <a:rPr lang="en-US" sz="2596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( il carattere esadecimale della stringa passata in input )</a:t>
            </a:r>
          </a:p>
        </p:txBody>
      </p:sp>
      <p:sp>
        <p:nvSpPr>
          <p:cNvPr name="AutoShape 13" id="13"/>
          <p:cNvSpPr/>
          <p:nvPr/>
        </p:nvSpPr>
        <p:spPr>
          <a:xfrm flipH="true" flipV="true">
            <a:off x="10305036" y="6154903"/>
            <a:ext cx="806144" cy="2599586"/>
          </a:xfrm>
          <a:prstGeom prst="line">
            <a:avLst/>
          </a:prstGeom>
          <a:ln cap="flat" w="38100">
            <a:solidFill>
              <a:srgbClr val="D4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4975134" y="1414034"/>
            <a:ext cx="87209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Si definiscono le operazioni da fare all’interno del ciclo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5225" y="1279470"/>
            <a:ext cx="8698775" cy="3081185"/>
          </a:xfrm>
          <a:custGeom>
            <a:avLst/>
            <a:gdLst/>
            <a:ahLst/>
            <a:cxnLst/>
            <a:rect r="r" b="b" t="t" l="l"/>
            <a:pathLst>
              <a:path h="3081185" w="8698775">
                <a:moveTo>
                  <a:pt x="0" y="0"/>
                </a:moveTo>
                <a:lnTo>
                  <a:pt x="8698775" y="0"/>
                </a:lnTo>
                <a:lnTo>
                  <a:pt x="8698775" y="3081185"/>
                </a:lnTo>
                <a:lnTo>
                  <a:pt x="0" y="30811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436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1264" y="6487710"/>
            <a:ext cx="7751526" cy="2770590"/>
          </a:xfrm>
          <a:custGeom>
            <a:avLst/>
            <a:gdLst/>
            <a:ahLst/>
            <a:cxnLst/>
            <a:rect r="r" b="b" t="t" l="l"/>
            <a:pathLst>
              <a:path h="2770590" w="7751526">
                <a:moveTo>
                  <a:pt x="0" y="0"/>
                </a:moveTo>
                <a:lnTo>
                  <a:pt x="7751526" y="0"/>
                </a:lnTo>
                <a:lnTo>
                  <a:pt x="7751526" y="2770590"/>
                </a:lnTo>
                <a:lnTo>
                  <a:pt x="0" y="27705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24" t="-152298" r="-1284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12457" y="1279470"/>
            <a:ext cx="6464597" cy="4134335"/>
          </a:xfrm>
          <a:custGeom>
            <a:avLst/>
            <a:gdLst/>
            <a:ahLst/>
            <a:cxnLst/>
            <a:rect r="r" b="b" t="t" l="l"/>
            <a:pathLst>
              <a:path h="4134335" w="6464597">
                <a:moveTo>
                  <a:pt x="0" y="0"/>
                </a:moveTo>
                <a:lnTo>
                  <a:pt x="6464598" y="0"/>
                </a:lnTo>
                <a:lnTo>
                  <a:pt x="6464598" y="4134335"/>
                </a:lnTo>
                <a:lnTo>
                  <a:pt x="0" y="41343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6147427"/>
            <a:ext cx="7018566" cy="358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Il comando “</a:t>
            </a:r>
            <a:r>
              <a:rPr lang="en-US" b="true" sz="2999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ps 23 @ index</a:t>
            </a: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” 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stampa il valore in ascii puntato dall'indirizzo iniziale trovato alla prima iterazione.</a:t>
            </a:r>
          </a:p>
          <a:p>
            <a:pPr algn="ctr">
              <a:lnSpc>
                <a:spcPts val="3539"/>
              </a:lnSpc>
              <a:spcBef>
                <a:spcPct val="0"/>
              </a:spcBef>
            </a:pPr>
          </a:p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Riusciamo a visualizzare la modifica realtime della stringa iterazione dopo iterazione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7387" y="282575"/>
            <a:ext cx="1115257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Build Script - Solution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5810" y="4608305"/>
            <a:ext cx="7779981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Halant"/>
                <a:ea typeface="Halant"/>
                <a:cs typeface="Halant"/>
                <a:sym typeface="Halant"/>
              </a:rPr>
              <a:t>Si salvano le info relative ai registri RDI e alla Call RAX, per poi proseguire con l’ estrazione dell ASCII che ci serve 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20464" y="9034686"/>
            <a:ext cx="7027814" cy="6254754"/>
          </a:xfrm>
          <a:custGeom>
            <a:avLst/>
            <a:gdLst/>
            <a:ahLst/>
            <a:cxnLst/>
            <a:rect r="r" b="b" t="t" l="l"/>
            <a:pathLst>
              <a:path h="6254754" w="7027814">
                <a:moveTo>
                  <a:pt x="0" y="0"/>
                </a:moveTo>
                <a:lnTo>
                  <a:pt x="7027814" y="0"/>
                </a:lnTo>
                <a:lnTo>
                  <a:pt x="7027814" y="6254754"/>
                </a:lnTo>
                <a:lnTo>
                  <a:pt x="0" y="6254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90257">
            <a:off x="16305320" y="8328846"/>
            <a:ext cx="2546291" cy="2412611"/>
          </a:xfrm>
          <a:custGeom>
            <a:avLst/>
            <a:gdLst/>
            <a:ahLst/>
            <a:cxnLst/>
            <a:rect r="r" b="b" t="t" l="l"/>
            <a:pathLst>
              <a:path h="2412611" w="254629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148233">
            <a:off x="16309975" y="-2451623"/>
            <a:ext cx="6861060" cy="6560888"/>
          </a:xfrm>
          <a:custGeom>
            <a:avLst/>
            <a:gdLst/>
            <a:ahLst/>
            <a:cxnLst/>
            <a:rect r="r" b="b" t="t" l="l"/>
            <a:pathLst>
              <a:path h="6560888" w="6861060">
                <a:moveTo>
                  <a:pt x="0" y="0"/>
                </a:moveTo>
                <a:lnTo>
                  <a:pt x="6861059" y="0"/>
                </a:lnTo>
                <a:lnTo>
                  <a:pt x="6861059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96687" y="1131912"/>
            <a:ext cx="2296180" cy="8301575"/>
          </a:xfrm>
          <a:custGeom>
            <a:avLst/>
            <a:gdLst/>
            <a:ahLst/>
            <a:cxnLst/>
            <a:rect r="r" b="b" t="t" l="l"/>
            <a:pathLst>
              <a:path h="8301575" w="2296180">
                <a:moveTo>
                  <a:pt x="0" y="0"/>
                </a:moveTo>
                <a:lnTo>
                  <a:pt x="2296180" y="0"/>
                </a:lnTo>
                <a:lnTo>
                  <a:pt x="2296180" y="8301575"/>
                </a:lnTo>
                <a:lnTo>
                  <a:pt x="0" y="8301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71398" y="853513"/>
            <a:ext cx="4219915" cy="8579975"/>
          </a:xfrm>
          <a:custGeom>
            <a:avLst/>
            <a:gdLst/>
            <a:ahLst/>
            <a:cxnLst/>
            <a:rect r="r" b="b" t="t" l="l"/>
            <a:pathLst>
              <a:path h="8579975" w="4219915">
                <a:moveTo>
                  <a:pt x="0" y="0"/>
                </a:moveTo>
                <a:lnTo>
                  <a:pt x="4219915" y="0"/>
                </a:lnTo>
                <a:lnTo>
                  <a:pt x="4219915" y="8579974"/>
                </a:lnTo>
                <a:lnTo>
                  <a:pt x="0" y="857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7387" y="282575"/>
            <a:ext cx="11152578" cy="7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0"/>
              </a:lnSpc>
            </a:pPr>
            <a:r>
              <a:rPr lang="en-US" sz="5000" b="true">
                <a:solidFill>
                  <a:srgbClr val="4D1354"/>
                </a:solidFill>
                <a:latin typeface="Halant Bold"/>
                <a:ea typeface="Halant Bold"/>
                <a:cs typeface="Halant Bold"/>
                <a:sym typeface="Halant Bold"/>
              </a:rPr>
              <a:t>Albero d’attacco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4696982" y="853513"/>
            <a:ext cx="7472242" cy="85799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94169">
            <a:off x="-2768217" y="5870308"/>
            <a:ext cx="6176663" cy="5906434"/>
          </a:xfrm>
          <a:custGeom>
            <a:avLst/>
            <a:gdLst/>
            <a:ahLst/>
            <a:cxnLst/>
            <a:rect r="r" b="b" t="t" l="l"/>
            <a:pathLst>
              <a:path h="5906434" w="6176663">
                <a:moveTo>
                  <a:pt x="0" y="0"/>
                </a:moveTo>
                <a:lnTo>
                  <a:pt x="6176663" y="0"/>
                </a:lnTo>
                <a:lnTo>
                  <a:pt x="6176663" y="5906433"/>
                </a:lnTo>
                <a:lnTo>
                  <a:pt x="0" y="59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40951">
            <a:off x="-957979" y="335262"/>
            <a:ext cx="2207918" cy="2092002"/>
          </a:xfrm>
          <a:custGeom>
            <a:avLst/>
            <a:gdLst/>
            <a:ahLst/>
            <a:cxnLst/>
            <a:rect r="r" b="b" t="t" l="l"/>
            <a:pathLst>
              <a:path h="2092002" w="2207918">
                <a:moveTo>
                  <a:pt x="0" y="0"/>
                </a:moveTo>
                <a:lnTo>
                  <a:pt x="2207919" y="0"/>
                </a:lnTo>
                <a:lnTo>
                  <a:pt x="2207919" y="2092002"/>
                </a:lnTo>
                <a:lnTo>
                  <a:pt x="0" y="2092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440951">
            <a:off x="17056164" y="9325366"/>
            <a:ext cx="2029833" cy="1923267"/>
          </a:xfrm>
          <a:custGeom>
            <a:avLst/>
            <a:gdLst/>
            <a:ahLst/>
            <a:cxnLst/>
            <a:rect r="r" b="b" t="t" l="l"/>
            <a:pathLst>
              <a:path h="1923267" w="2029833">
                <a:moveTo>
                  <a:pt x="0" y="0"/>
                </a:moveTo>
                <a:lnTo>
                  <a:pt x="2029833" y="0"/>
                </a:lnTo>
                <a:lnTo>
                  <a:pt x="2029833" y="1923268"/>
                </a:lnTo>
                <a:lnTo>
                  <a:pt x="0" y="1923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421" r="0" b="421"/>
          <a:stretch>
            <a:fillRect/>
          </a:stretch>
        </p:blipFill>
        <p:spPr>
          <a:xfrm flipH="false" flipV="false" rot="0">
            <a:off x="1523893" y="1333049"/>
            <a:ext cx="15240214" cy="8500338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5712733" y="1676"/>
            <a:ext cx="698376" cy="1027024"/>
          </a:xfrm>
          <a:custGeom>
            <a:avLst/>
            <a:gdLst/>
            <a:ahLst/>
            <a:cxnLst/>
            <a:rect r="r" b="b" t="t" l="l"/>
            <a:pathLst>
              <a:path h="1027024" w="698376">
                <a:moveTo>
                  <a:pt x="0" y="0"/>
                </a:moveTo>
                <a:lnTo>
                  <a:pt x="698377" y="0"/>
                </a:lnTo>
                <a:lnTo>
                  <a:pt x="698377" y="1027024"/>
                </a:lnTo>
                <a:lnTo>
                  <a:pt x="0" y="10270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67083" y="325075"/>
            <a:ext cx="7441287" cy="105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45"/>
              </a:lnSpc>
            </a:pPr>
            <a:r>
              <a:rPr lang="en-US" sz="7072" b="true">
                <a:solidFill>
                  <a:srgbClr val="731F7D"/>
                </a:solidFill>
                <a:latin typeface="Halant Bold"/>
                <a:ea typeface="Halant Bold"/>
                <a:cs typeface="Halant Bold"/>
                <a:sym typeface="Halant Bold"/>
              </a:rPr>
              <a:t>Sfida Vinta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1786" y="7518053"/>
            <a:ext cx="646442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876890" y="1676"/>
            <a:ext cx="698376" cy="1027024"/>
          </a:xfrm>
          <a:custGeom>
            <a:avLst/>
            <a:gdLst/>
            <a:ahLst/>
            <a:cxnLst/>
            <a:rect r="r" b="b" t="t" l="l"/>
            <a:pathLst>
              <a:path h="1027024" w="698376">
                <a:moveTo>
                  <a:pt x="0" y="0"/>
                </a:moveTo>
                <a:lnTo>
                  <a:pt x="698377" y="0"/>
                </a:lnTo>
                <a:lnTo>
                  <a:pt x="698377" y="1027024"/>
                </a:lnTo>
                <a:lnTo>
                  <a:pt x="0" y="10270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1F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4633">
            <a:off x="7594730" y="9022701"/>
            <a:ext cx="2604581" cy="2467841"/>
          </a:xfrm>
          <a:custGeom>
            <a:avLst/>
            <a:gdLst/>
            <a:ahLst/>
            <a:cxnLst/>
            <a:rect r="r" b="b" t="t" l="l"/>
            <a:pathLst>
              <a:path h="2467841" w="2604581">
                <a:moveTo>
                  <a:pt x="0" y="0"/>
                </a:moveTo>
                <a:lnTo>
                  <a:pt x="2604581" y="0"/>
                </a:lnTo>
                <a:lnTo>
                  <a:pt x="2604581" y="2467841"/>
                </a:lnTo>
                <a:lnTo>
                  <a:pt x="0" y="2467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088749">
            <a:off x="1631143" y="-2578373"/>
            <a:ext cx="3903561" cy="3698625"/>
          </a:xfrm>
          <a:custGeom>
            <a:avLst/>
            <a:gdLst/>
            <a:ahLst/>
            <a:cxnLst/>
            <a:rect r="r" b="b" t="t" l="l"/>
            <a:pathLst>
              <a:path h="3698625" w="3903561">
                <a:moveTo>
                  <a:pt x="0" y="0"/>
                </a:moveTo>
                <a:lnTo>
                  <a:pt x="3903562" y="0"/>
                </a:lnTo>
                <a:lnTo>
                  <a:pt x="3903562" y="3698625"/>
                </a:lnTo>
                <a:lnTo>
                  <a:pt x="0" y="369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13119">
            <a:off x="-3109196" y="4175850"/>
            <a:ext cx="8275792" cy="7913726"/>
          </a:xfrm>
          <a:custGeom>
            <a:avLst/>
            <a:gdLst/>
            <a:ahLst/>
            <a:cxnLst/>
            <a:rect r="r" b="b" t="t" l="l"/>
            <a:pathLst>
              <a:path h="7913726" w="8275792">
                <a:moveTo>
                  <a:pt x="0" y="0"/>
                </a:moveTo>
                <a:lnTo>
                  <a:pt x="8275792" y="0"/>
                </a:lnTo>
                <a:lnTo>
                  <a:pt x="8275792" y="7913726"/>
                </a:lnTo>
                <a:lnTo>
                  <a:pt x="0" y="79137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65189">
            <a:off x="11239029" y="-3141539"/>
            <a:ext cx="7824542" cy="6963843"/>
          </a:xfrm>
          <a:custGeom>
            <a:avLst/>
            <a:gdLst/>
            <a:ahLst/>
            <a:cxnLst/>
            <a:rect r="r" b="b" t="t" l="l"/>
            <a:pathLst>
              <a:path h="6963843" w="7824542">
                <a:moveTo>
                  <a:pt x="0" y="0"/>
                </a:moveTo>
                <a:lnTo>
                  <a:pt x="7824542" y="0"/>
                </a:lnTo>
                <a:lnTo>
                  <a:pt x="7824542" y="6963842"/>
                </a:lnTo>
                <a:lnTo>
                  <a:pt x="0" y="69638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8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07755">
            <a:off x="15045636" y="5338716"/>
            <a:ext cx="6135171" cy="7102948"/>
          </a:xfrm>
          <a:custGeom>
            <a:avLst/>
            <a:gdLst/>
            <a:ahLst/>
            <a:cxnLst/>
            <a:rect r="r" b="b" t="t" l="l"/>
            <a:pathLst>
              <a:path h="7102948" w="6135171">
                <a:moveTo>
                  <a:pt x="0" y="0"/>
                </a:moveTo>
                <a:lnTo>
                  <a:pt x="6135171" y="0"/>
                </a:lnTo>
                <a:lnTo>
                  <a:pt x="6135171" y="7102948"/>
                </a:lnTo>
                <a:lnTo>
                  <a:pt x="0" y="7102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70751" y="4364947"/>
            <a:ext cx="2318646" cy="2688285"/>
          </a:xfrm>
          <a:custGeom>
            <a:avLst/>
            <a:gdLst/>
            <a:ahLst/>
            <a:cxnLst/>
            <a:rect r="r" b="b" t="t" l="l"/>
            <a:pathLst>
              <a:path h="2688285" w="2318646">
                <a:moveTo>
                  <a:pt x="0" y="0"/>
                </a:moveTo>
                <a:lnTo>
                  <a:pt x="2318646" y="0"/>
                </a:lnTo>
                <a:lnTo>
                  <a:pt x="2318646" y="2688285"/>
                </a:lnTo>
                <a:lnTo>
                  <a:pt x="0" y="26882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00496" y="8168413"/>
            <a:ext cx="336055" cy="336055"/>
          </a:xfrm>
          <a:custGeom>
            <a:avLst/>
            <a:gdLst/>
            <a:ahLst/>
            <a:cxnLst/>
            <a:rect r="r" b="b" t="t" l="l"/>
            <a:pathLst>
              <a:path h="336055" w="336055">
                <a:moveTo>
                  <a:pt x="0" y="0"/>
                </a:moveTo>
                <a:lnTo>
                  <a:pt x="336055" y="0"/>
                </a:lnTo>
                <a:lnTo>
                  <a:pt x="336055" y="336055"/>
                </a:lnTo>
                <a:lnTo>
                  <a:pt x="0" y="336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04725" y="7745643"/>
            <a:ext cx="270507" cy="270507"/>
          </a:xfrm>
          <a:custGeom>
            <a:avLst/>
            <a:gdLst/>
            <a:ahLst/>
            <a:cxnLst/>
            <a:rect r="r" b="b" t="t" l="l"/>
            <a:pathLst>
              <a:path h="270507" w="270507">
                <a:moveTo>
                  <a:pt x="0" y="0"/>
                </a:moveTo>
                <a:lnTo>
                  <a:pt x="270507" y="0"/>
                </a:lnTo>
                <a:lnTo>
                  <a:pt x="270507" y="270507"/>
                </a:lnTo>
                <a:lnTo>
                  <a:pt x="0" y="2705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87899" y="4634990"/>
            <a:ext cx="2418242" cy="2418242"/>
          </a:xfrm>
          <a:custGeom>
            <a:avLst/>
            <a:gdLst/>
            <a:ahLst/>
            <a:cxnLst/>
            <a:rect r="r" b="b" t="t" l="l"/>
            <a:pathLst>
              <a:path h="2418242" w="2418242">
                <a:moveTo>
                  <a:pt x="0" y="0"/>
                </a:moveTo>
                <a:lnTo>
                  <a:pt x="2418243" y="0"/>
                </a:lnTo>
                <a:lnTo>
                  <a:pt x="2418243" y="2418242"/>
                </a:lnTo>
                <a:lnTo>
                  <a:pt x="0" y="24182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761513" y="7745643"/>
            <a:ext cx="4337858" cy="304068"/>
            <a:chOff x="0" y="0"/>
            <a:chExt cx="5783810" cy="4054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2374"/>
              <a:ext cx="360676" cy="360676"/>
            </a:xfrm>
            <a:custGeom>
              <a:avLst/>
              <a:gdLst/>
              <a:ahLst/>
              <a:cxnLst/>
              <a:rect r="r" b="b" t="t" l="l"/>
              <a:pathLst>
                <a:path h="360676" w="360676">
                  <a:moveTo>
                    <a:pt x="0" y="0"/>
                  </a:moveTo>
                  <a:lnTo>
                    <a:pt x="360676" y="0"/>
                  </a:lnTo>
                  <a:lnTo>
                    <a:pt x="360676" y="360676"/>
                  </a:lnTo>
                  <a:lnTo>
                    <a:pt x="0" y="360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426184" y="0"/>
              <a:ext cx="5357626" cy="405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FFFFFF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u.dellamonica2@studenti.unisa.it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34643" y="8132713"/>
            <a:ext cx="4391597" cy="336055"/>
            <a:chOff x="0" y="0"/>
            <a:chExt cx="5855463" cy="4480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8073" cy="448073"/>
            </a:xfrm>
            <a:custGeom>
              <a:avLst/>
              <a:gdLst/>
              <a:ahLst/>
              <a:cxnLst/>
              <a:rect r="r" b="b" t="t" l="l"/>
              <a:pathLst>
                <a:path h="448073" w="448073">
                  <a:moveTo>
                    <a:pt x="0" y="0"/>
                  </a:moveTo>
                  <a:lnTo>
                    <a:pt x="448073" y="0"/>
                  </a:lnTo>
                  <a:lnTo>
                    <a:pt x="448073" y="448073"/>
                  </a:lnTo>
                  <a:lnTo>
                    <a:pt x="0" y="448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535433" y="47600"/>
              <a:ext cx="5320030" cy="400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FFFFFF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github.com/UmbertoDellaMonica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1490" y="7864116"/>
            <a:ext cx="4337858" cy="304068"/>
            <a:chOff x="0" y="0"/>
            <a:chExt cx="5783810" cy="40542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22374"/>
              <a:ext cx="360676" cy="360676"/>
            </a:xfrm>
            <a:custGeom>
              <a:avLst/>
              <a:gdLst/>
              <a:ahLst/>
              <a:cxnLst/>
              <a:rect r="r" b="b" t="t" l="l"/>
              <a:pathLst>
                <a:path h="360676" w="360676">
                  <a:moveTo>
                    <a:pt x="0" y="0"/>
                  </a:moveTo>
                  <a:lnTo>
                    <a:pt x="360676" y="0"/>
                  </a:lnTo>
                  <a:lnTo>
                    <a:pt x="360676" y="360676"/>
                  </a:lnTo>
                  <a:lnTo>
                    <a:pt x="0" y="360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426184" y="0"/>
              <a:ext cx="5357626" cy="4054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5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FFFFFF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G.coralluzzo1@studenti.unisa.it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1490" y="8292009"/>
            <a:ext cx="4391597" cy="336055"/>
            <a:chOff x="0" y="0"/>
            <a:chExt cx="5855463" cy="4480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8073" cy="448073"/>
            </a:xfrm>
            <a:custGeom>
              <a:avLst/>
              <a:gdLst/>
              <a:ahLst/>
              <a:cxnLst/>
              <a:rect r="r" b="b" t="t" l="l"/>
              <a:pathLst>
                <a:path h="448073" w="448073">
                  <a:moveTo>
                    <a:pt x="0" y="0"/>
                  </a:moveTo>
                  <a:lnTo>
                    <a:pt x="448073" y="0"/>
                  </a:lnTo>
                  <a:lnTo>
                    <a:pt x="448073" y="448073"/>
                  </a:lnTo>
                  <a:lnTo>
                    <a:pt x="0" y="448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535433" y="47600"/>
              <a:ext cx="5320030" cy="400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0"/>
                </a:lnSpc>
                <a:spcBef>
                  <a:spcPct val="0"/>
                </a:spcBef>
              </a:pPr>
              <a:r>
                <a:rPr lang="en-US" b="true" sz="2000" u="sng">
                  <a:solidFill>
                    <a:srgbClr val="FFFFFF"/>
                  </a:solidFill>
                  <a:latin typeface="Halant Bold"/>
                  <a:ea typeface="Halant Bold"/>
                  <a:cs typeface="Halant Bold"/>
                  <a:sym typeface="Halant Bold"/>
                  <a:hlinkClick r:id="rId10" tooltip="https://github.com/Grizzloo"/>
                </a:rPr>
                <a:t>github.com</a:t>
              </a:r>
              <a:r>
                <a:rPr lang="en-US" b="true" sz="2000" u="sng">
                  <a:solidFill>
                    <a:srgbClr val="FFFFFF"/>
                  </a:solidFill>
                  <a:latin typeface="Halant Bold"/>
                  <a:ea typeface="Halant Bold"/>
                  <a:cs typeface="Halant Bold"/>
                  <a:sym typeface="Halant Bold"/>
                </a:rPr>
                <a:t>/Grizzloo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883663" y="4599600"/>
            <a:ext cx="2841962" cy="2489021"/>
          </a:xfrm>
          <a:custGeom>
            <a:avLst/>
            <a:gdLst/>
            <a:ahLst/>
            <a:cxnLst/>
            <a:rect r="r" b="b" t="t" l="l"/>
            <a:pathLst>
              <a:path h="2489021" w="2841962">
                <a:moveTo>
                  <a:pt x="0" y="0"/>
                </a:moveTo>
                <a:lnTo>
                  <a:pt x="2841961" y="0"/>
                </a:lnTo>
                <a:lnTo>
                  <a:pt x="2841961" y="2489021"/>
                </a:lnTo>
                <a:lnTo>
                  <a:pt x="0" y="24890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9635" t="0" r="0" b="-36599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358925" y="340382"/>
            <a:ext cx="13570150" cy="3673056"/>
            <a:chOff x="0" y="0"/>
            <a:chExt cx="18093534" cy="489740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02065"/>
              <a:ext cx="18093534" cy="3115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05"/>
                </a:lnSpc>
              </a:pPr>
              <a:r>
                <a:rPr lang="en-US" sz="7801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GRAZIE A TUTTI PER </a:t>
              </a:r>
            </a:p>
            <a:p>
              <a:pPr algn="ctr">
                <a:lnSpc>
                  <a:spcPts val="9205"/>
                </a:lnSpc>
              </a:pPr>
              <a:r>
                <a:rPr lang="en-US" sz="7801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L’ ATTENZIONE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024162" y="4137196"/>
              <a:ext cx="14045209" cy="7553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045507" y="7173109"/>
            <a:ext cx="2343890" cy="48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b="true" sz="3201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Piero Agosto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643259" y="7712083"/>
            <a:ext cx="3173630" cy="30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p.agosto@studenti.unisa.it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937911" y="8168413"/>
            <a:ext cx="2584326" cy="30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github.com/pierago01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11626" y="7173109"/>
            <a:ext cx="4237633" cy="48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b="true" sz="3201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Umberto Della Monica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1806" y="7173109"/>
            <a:ext cx="5271189" cy="48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b="true" sz="3201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Gabriele Vittorio Coralluzzo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DAGmqDcKeaY</dc:identifier>
  <dcterms:modified xsi:type="dcterms:W3CDTF">2011-08-01T06:04:30Z</dcterms:modified>
  <cp:revision>1</cp:revision>
  <dc:title>m0rph-CTF-Presentation</dc:title>
</cp:coreProperties>
</file>